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8" r:id="rId4"/>
    <p:sldId id="259" r:id="rId5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9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E09E93-5AB1-4261-AEAE-CB593B269BDB}" type="doc">
      <dgm:prSet loTypeId="urn:microsoft.com/office/officeart/2005/8/layout/vList2" loCatId="list" qsTypeId="urn:microsoft.com/office/officeart/2005/8/quickstyle/simple1" qsCatId="simple" csTypeId="urn:microsoft.com/office/officeart/2005/8/colors/colorful1#9" csCatId="colorful" phldr="1"/>
      <dgm:spPr/>
      <dgm:t>
        <a:bodyPr/>
        <a:lstStyle/>
        <a:p>
          <a:endParaRPr lang="zh-CN" altLang="en-US"/>
        </a:p>
      </dgm:t>
    </dgm:pt>
    <dgm:pt modelId="{814DDA82-02C9-4ADF-8722-1E1CBBD0D5CE}">
      <dgm:prSet phldrT="[文本]" custT="1"/>
      <dgm:spPr/>
      <dgm:t>
        <a:bodyPr/>
        <a:lstStyle/>
        <a:p>
          <a:r>
            <a:rPr lang="zh-CN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单播 </a:t>
          </a:r>
          <a:r>
            <a:rPr lang="en-US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(unicast) </a:t>
          </a:r>
          <a:r>
            <a:rPr lang="zh-CN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帧（一对一）</a:t>
          </a:r>
          <a:endParaRPr lang="zh-CN" altLang="en-US" sz="1800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5431ADCE-8D4B-49DA-B071-51C35FDB9551}" cxnId="{5CD593E9-1844-4D8A-BA5C-5AAE0AE8B0A4}" type="parTrans">
      <dgm:prSet/>
      <dgm:spPr/>
      <dgm:t>
        <a:bodyPr/>
        <a:lstStyle/>
        <a:p>
          <a:endParaRPr lang="zh-CN" altLang="en-US" sz="18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24F1CDB1-D5B6-4328-B5C2-8A9757ED04D5}" cxnId="{5CD593E9-1844-4D8A-BA5C-5AAE0AE8B0A4}" type="sibTrans">
      <dgm:prSet/>
      <dgm:spPr/>
      <dgm:t>
        <a:bodyPr/>
        <a:lstStyle/>
        <a:p>
          <a:endParaRPr lang="zh-CN" altLang="en-US" sz="18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81E2DF3-F714-4132-99E0-7B247481705A}">
      <dgm:prSet phldrT="[文本]" custT="1"/>
      <dgm:spPr>
        <a:solidFill>
          <a:srgbClr val="0070C0"/>
        </a:solidFill>
      </dgm:spPr>
      <dgm:t>
        <a:bodyPr/>
        <a:lstStyle/>
        <a:p>
          <a:r>
            <a:rPr lang="zh-CN" altLang="en-US" sz="1800" b="1" dirty="0" smtClean="0">
              <a:latin typeface="微软雅黑" panose="020B0503020204020204" charset="-122"/>
              <a:ea typeface="微软雅黑" panose="020B0503020204020204" charset="-122"/>
            </a:rPr>
            <a:t>“发往本站的帧”包括以下 </a:t>
          </a:r>
          <a:r>
            <a:rPr lang="en-US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3 </a:t>
          </a:r>
          <a:r>
            <a:rPr lang="zh-CN" altLang="en-US" sz="1800" b="1" dirty="0" smtClean="0">
              <a:latin typeface="微软雅黑" panose="020B0503020204020204" charset="-122"/>
              <a:ea typeface="微软雅黑" panose="020B0503020204020204" charset="-122"/>
            </a:rPr>
            <a:t>种帧： </a:t>
          </a:r>
          <a:endParaRPr lang="zh-CN" altLang="en-US" sz="1800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655199EF-37C3-4D4B-951C-30B68E8B9B33}" cxnId="{22A407D0-AE68-432F-86AA-AE9841E075D6}" type="sibTrans">
      <dgm:prSet/>
      <dgm:spPr/>
      <dgm:t>
        <a:bodyPr/>
        <a:lstStyle/>
        <a:p>
          <a:endParaRPr lang="zh-CN" altLang="en-US" sz="18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2C60B28-42D6-4C66-936B-EE0A71B910CF}" cxnId="{22A407D0-AE68-432F-86AA-AE9841E075D6}" type="parTrans">
      <dgm:prSet/>
      <dgm:spPr/>
      <dgm:t>
        <a:bodyPr/>
        <a:lstStyle/>
        <a:p>
          <a:endParaRPr lang="zh-CN" altLang="en-US" sz="18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BF2317D-AD3C-4AD9-AE85-DBE5729F1846}">
      <dgm:prSet custT="1"/>
      <dgm:spPr/>
      <dgm:t>
        <a:bodyPr/>
        <a:lstStyle/>
        <a:p>
          <a:r>
            <a:rPr lang="zh-CN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广播 </a:t>
          </a:r>
          <a:r>
            <a:rPr lang="en-US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(broadcast) </a:t>
          </a:r>
          <a:r>
            <a:rPr lang="zh-CN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帧（一对全体）</a:t>
          </a:r>
        </a:p>
      </dgm:t>
    </dgm:pt>
    <dgm:pt modelId="{F7BAAF36-FE67-4405-9685-739F3659DB5F}" cxnId="{E6D0FBD8-DDF4-4266-9A45-2EC5E574CAB6}" type="parTrans">
      <dgm:prSet/>
      <dgm:spPr/>
      <dgm:t>
        <a:bodyPr/>
        <a:lstStyle/>
        <a:p>
          <a:endParaRPr lang="zh-CN" altLang="en-US"/>
        </a:p>
      </dgm:t>
    </dgm:pt>
    <dgm:pt modelId="{1EC0D9CC-79C7-4C3D-A786-B40C14115161}" cxnId="{E6D0FBD8-DDF4-4266-9A45-2EC5E574CAB6}" type="sibTrans">
      <dgm:prSet/>
      <dgm:spPr/>
      <dgm:t>
        <a:bodyPr/>
        <a:lstStyle/>
        <a:p>
          <a:endParaRPr lang="zh-CN" altLang="en-US"/>
        </a:p>
      </dgm:t>
    </dgm:pt>
    <dgm:pt modelId="{386FF01E-390A-44A6-A66D-EE71BD678925}">
      <dgm:prSet custT="1"/>
      <dgm:spPr/>
      <dgm:t>
        <a:bodyPr/>
        <a:lstStyle/>
        <a:p>
          <a:r>
            <a:rPr lang="zh-CN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多播 </a:t>
          </a:r>
          <a:r>
            <a:rPr lang="en-US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(multicast) </a:t>
          </a:r>
          <a:r>
            <a:rPr lang="zh-CN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帧（一对多）</a:t>
          </a:r>
        </a:p>
      </dgm:t>
    </dgm:pt>
    <dgm:pt modelId="{91B801CD-97E8-439B-AA5E-04C754F0DB58}" cxnId="{3D06C642-BE45-46D0-A4D5-343FDA0F1C04}" type="parTrans">
      <dgm:prSet/>
      <dgm:spPr/>
      <dgm:t>
        <a:bodyPr/>
        <a:lstStyle/>
        <a:p>
          <a:endParaRPr lang="zh-CN" altLang="en-US"/>
        </a:p>
      </dgm:t>
    </dgm:pt>
    <dgm:pt modelId="{8A64F0E4-6D3F-4682-8767-B036188D4E64}" cxnId="{3D06C642-BE45-46D0-A4D5-343FDA0F1C04}" type="sibTrans">
      <dgm:prSet/>
      <dgm:spPr/>
      <dgm:t>
        <a:bodyPr/>
        <a:lstStyle/>
        <a:p>
          <a:endParaRPr lang="zh-CN" altLang="en-US"/>
        </a:p>
      </dgm:t>
    </dgm:pt>
    <dgm:pt modelId="{7005B1A2-4915-4249-B479-F76E326A33A1}">
      <dgm:prSet custT="1"/>
      <dgm:spPr/>
      <dgm:t>
        <a:bodyPr/>
        <a:lstStyle/>
        <a:p>
          <a:endParaRPr lang="zh-CN" altLang="zh-CN" sz="1800" b="1" dirty="0" smtClean="0">
            <a:latin typeface="微软雅黑" panose="020B0503020204020204" charset="-122"/>
            <a:ea typeface="微软雅黑" panose="020B0503020204020204" charset="-122"/>
          </a:endParaRPr>
        </a:p>
      </dgm:t>
    </dgm:pt>
    <dgm:pt modelId="{E346561B-5429-41D5-AB9F-51E409A03B3D}" cxnId="{F569808E-F0DD-4D5D-9813-079ED3F58845}" type="parTrans">
      <dgm:prSet/>
      <dgm:spPr/>
      <dgm:t>
        <a:bodyPr/>
        <a:lstStyle/>
        <a:p>
          <a:endParaRPr lang="zh-CN" altLang="en-US"/>
        </a:p>
      </dgm:t>
    </dgm:pt>
    <dgm:pt modelId="{DD924269-C999-418F-BACE-8AF6966A5AED}" cxnId="{F569808E-F0DD-4D5D-9813-079ED3F58845}" type="sibTrans">
      <dgm:prSet/>
      <dgm:spPr/>
      <dgm:t>
        <a:bodyPr/>
        <a:lstStyle/>
        <a:p>
          <a:endParaRPr lang="zh-CN" altLang="en-US"/>
        </a:p>
      </dgm:t>
    </dgm:pt>
    <dgm:pt modelId="{5D25DB41-AB17-40CD-A5C8-D74BBC46D094}" type="pres">
      <dgm:prSet presAssocID="{60E09E93-5AB1-4261-AEAE-CB593B269BD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BF3E09-C6D2-4B4D-8FF3-4B7A8731524F}" type="pres">
      <dgm:prSet presAssocID="{E81E2DF3-F714-4132-99E0-7B247481705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F13495D-0B08-4550-9742-9E4B2CBA3D51}" type="pres">
      <dgm:prSet presAssocID="{E81E2DF3-F714-4132-99E0-7B247481705A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1779289-DA97-46ED-A707-02EC85C7D4CF}" type="presOf" srcId="{386FF01E-390A-44A6-A66D-EE71BD678925}" destId="{1F13495D-0B08-4550-9742-9E4B2CBA3D51}" srcOrd="0" destOrd="2" presId="urn:microsoft.com/office/officeart/2005/8/layout/vList2"/>
    <dgm:cxn modelId="{22A407D0-AE68-432F-86AA-AE9841E075D6}" srcId="{60E09E93-5AB1-4261-AEAE-CB593B269BDB}" destId="{E81E2DF3-F714-4132-99E0-7B247481705A}" srcOrd="0" destOrd="0" parTransId="{92C60B28-42D6-4C66-936B-EE0A71B910CF}" sibTransId="{655199EF-37C3-4D4B-951C-30B68E8B9B33}"/>
    <dgm:cxn modelId="{4FC8115D-4049-4305-9653-B961D649BC02}" type="presOf" srcId="{E81E2DF3-F714-4132-99E0-7B247481705A}" destId="{FCBF3E09-C6D2-4B4D-8FF3-4B7A8731524F}" srcOrd="0" destOrd="0" presId="urn:microsoft.com/office/officeart/2005/8/layout/vList2"/>
    <dgm:cxn modelId="{E6D0FBD8-DDF4-4266-9A45-2EC5E574CAB6}" srcId="{E81E2DF3-F714-4132-99E0-7B247481705A}" destId="{ABF2317D-AD3C-4AD9-AE85-DBE5729F1846}" srcOrd="1" destOrd="0" parTransId="{F7BAAF36-FE67-4405-9685-739F3659DB5F}" sibTransId="{1EC0D9CC-79C7-4C3D-A786-B40C14115161}"/>
    <dgm:cxn modelId="{F569808E-F0DD-4D5D-9813-079ED3F58845}" srcId="{E81E2DF3-F714-4132-99E0-7B247481705A}" destId="{7005B1A2-4915-4249-B479-F76E326A33A1}" srcOrd="3" destOrd="0" parTransId="{E346561B-5429-41D5-AB9F-51E409A03B3D}" sibTransId="{DD924269-C999-418F-BACE-8AF6966A5AED}"/>
    <dgm:cxn modelId="{ECF7CD60-75D6-4E7B-A722-F894DE16D276}" type="presOf" srcId="{7005B1A2-4915-4249-B479-F76E326A33A1}" destId="{1F13495D-0B08-4550-9742-9E4B2CBA3D51}" srcOrd="0" destOrd="3" presId="urn:microsoft.com/office/officeart/2005/8/layout/vList2"/>
    <dgm:cxn modelId="{3D06C642-BE45-46D0-A4D5-343FDA0F1C04}" srcId="{E81E2DF3-F714-4132-99E0-7B247481705A}" destId="{386FF01E-390A-44A6-A66D-EE71BD678925}" srcOrd="2" destOrd="0" parTransId="{91B801CD-97E8-439B-AA5E-04C754F0DB58}" sibTransId="{8A64F0E4-6D3F-4682-8767-B036188D4E64}"/>
    <dgm:cxn modelId="{5CD593E9-1844-4D8A-BA5C-5AAE0AE8B0A4}" srcId="{E81E2DF3-F714-4132-99E0-7B247481705A}" destId="{814DDA82-02C9-4ADF-8722-1E1CBBD0D5CE}" srcOrd="0" destOrd="0" parTransId="{5431ADCE-8D4B-49DA-B071-51C35FDB9551}" sibTransId="{24F1CDB1-D5B6-4328-B5C2-8A9757ED04D5}"/>
    <dgm:cxn modelId="{0DEE3817-B42F-4773-8E6F-377F4BBF3650}" type="presOf" srcId="{814DDA82-02C9-4ADF-8722-1E1CBBD0D5CE}" destId="{1F13495D-0B08-4550-9742-9E4B2CBA3D51}" srcOrd="0" destOrd="0" presId="urn:microsoft.com/office/officeart/2005/8/layout/vList2"/>
    <dgm:cxn modelId="{3F0F825B-C835-44E7-8D0C-7EE8A3599830}" type="presOf" srcId="{60E09E93-5AB1-4261-AEAE-CB593B269BDB}" destId="{5D25DB41-AB17-40CD-A5C8-D74BBC46D094}" srcOrd="0" destOrd="0" presId="urn:microsoft.com/office/officeart/2005/8/layout/vList2"/>
    <dgm:cxn modelId="{B248C787-04BA-493A-9E5F-5675DBD70FFE}" type="presOf" srcId="{ABF2317D-AD3C-4AD9-AE85-DBE5729F1846}" destId="{1F13495D-0B08-4550-9742-9E4B2CBA3D51}" srcOrd="0" destOrd="1" presId="urn:microsoft.com/office/officeart/2005/8/layout/vList2"/>
    <dgm:cxn modelId="{E7DC66BB-487F-4E80-A30E-DF78DB368140}" type="presParOf" srcId="{5D25DB41-AB17-40CD-A5C8-D74BBC46D094}" destId="{FCBF3E09-C6D2-4B4D-8FF3-4B7A8731524F}" srcOrd="0" destOrd="0" presId="urn:microsoft.com/office/officeart/2005/8/layout/vList2"/>
    <dgm:cxn modelId="{4311DF70-B61F-467D-B59D-4074370EC5D0}" type="presParOf" srcId="{5D25DB41-AB17-40CD-A5C8-D74BBC46D094}" destId="{1F13495D-0B08-4550-9742-9E4B2CBA3D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465456" cy="2486321"/>
        <a:chOff x="0" y="0"/>
        <a:chExt cx="6465456" cy="2486321"/>
      </a:xfrm>
    </dsp:grpSpPr>
    <dsp:sp modelId="{FCBF3E09-C6D2-4B4D-8FF3-4B7A8731524F}">
      <dsp:nvSpPr>
        <dsp:cNvPr id="3" name="圆角矩形 2"/>
        <dsp:cNvSpPr/>
      </dsp:nvSpPr>
      <dsp:spPr bwMode="white">
        <a:xfrm>
          <a:off x="0" y="6543"/>
          <a:ext cx="6465456" cy="1085760"/>
        </a:xfrm>
        <a:prstGeom prst="roundRect">
          <a:avLst/>
        </a:prstGeom>
        <a:solidFill>
          <a:srgbClr val="0070C0"/>
        </a:solidFill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5800"/>
          </a:lvl1pPr>
          <a:lvl2pPr marL="285750" indent="-285750" algn="l">
            <a:defRPr sz="4500"/>
          </a:lvl2pPr>
          <a:lvl3pPr marL="571500" indent="-285750" algn="l">
            <a:defRPr sz="4500"/>
          </a:lvl3pPr>
          <a:lvl4pPr marL="857250" indent="-285750" algn="l">
            <a:defRPr sz="4500"/>
          </a:lvl4pPr>
          <a:lvl5pPr marL="1143000" indent="-285750" algn="l">
            <a:defRPr sz="4500"/>
          </a:lvl5pPr>
          <a:lvl6pPr marL="1428750" indent="-285750" algn="l">
            <a:defRPr sz="4500"/>
          </a:lvl6pPr>
          <a:lvl7pPr marL="1714500" indent="-285750" algn="l">
            <a:defRPr sz="4500"/>
          </a:lvl7pPr>
          <a:lvl8pPr marL="2000250" indent="-285750" algn="l">
            <a:defRPr sz="4500"/>
          </a:lvl8pPr>
          <a:lvl9pPr marL="2286000" indent="-285750" algn="l">
            <a:defRPr sz="4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>
              <a:latin typeface="微软雅黑" panose="020B0503020204020204" charset="-122"/>
              <a:ea typeface="微软雅黑" panose="020B0503020204020204" charset="-122"/>
            </a:rPr>
            <a:t>“发往本站的帧”包括以下 </a:t>
          </a:r>
          <a:r>
            <a:rPr lang="en-US" altLang="zh-CN" sz="1800" b="1" dirty="0" smtClean="0">
              <a:latin typeface="微软雅黑" panose="020B0503020204020204" charset="-122"/>
              <a:ea typeface="微软雅黑" panose="020B0503020204020204" charset="-122"/>
            </a:rPr>
            <a:t>3 </a:t>
          </a:r>
          <a:r>
            <a:rPr lang="zh-CN" altLang="en-US" sz="1800" b="1" dirty="0" smtClean="0">
              <a:latin typeface="微软雅黑" panose="020B0503020204020204" charset="-122"/>
              <a:ea typeface="微软雅黑" panose="020B0503020204020204" charset="-122"/>
            </a:rPr>
            <a:t>种帧： </a:t>
          </a:r>
          <a:endParaRPr lang="zh-CN" altLang="en-US" sz="1800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0" y="6543"/>
        <a:ext cx="6465456" cy="1085760"/>
      </dsp:txXfrm>
    </dsp:sp>
    <dsp:sp modelId="{1F13495D-0B08-4550-9742-9E4B2CBA3D51}">
      <dsp:nvSpPr>
        <dsp:cNvPr id="4" name="矩形 3"/>
        <dsp:cNvSpPr/>
      </dsp:nvSpPr>
      <dsp:spPr bwMode="white">
        <a:xfrm>
          <a:off x="0" y="1092303"/>
          <a:ext cx="6465456" cy="138747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05278" tIns="22860" rIns="128016" bIns="22860" anchor="t"/>
        <a:lstStyle>
          <a:lvl1pPr algn="l">
            <a:defRPr sz="5800"/>
          </a:lvl1pPr>
          <a:lvl2pPr marL="285750" indent="-285750" algn="l">
            <a:defRPr sz="4500"/>
          </a:lvl2pPr>
          <a:lvl3pPr marL="571500" indent="-285750" algn="l">
            <a:defRPr sz="4500"/>
          </a:lvl3pPr>
          <a:lvl4pPr marL="857250" indent="-285750" algn="l">
            <a:defRPr sz="4500"/>
          </a:lvl4pPr>
          <a:lvl5pPr marL="1143000" indent="-285750" algn="l">
            <a:defRPr sz="4500"/>
          </a:lvl5pPr>
          <a:lvl6pPr marL="1428750" indent="-285750" algn="l">
            <a:defRPr sz="4500"/>
          </a:lvl6pPr>
          <a:lvl7pPr marL="1714500" indent="-285750" algn="l">
            <a:defRPr sz="4500"/>
          </a:lvl7pPr>
          <a:lvl8pPr marL="2000250" indent="-285750" algn="l">
            <a:defRPr sz="4500"/>
          </a:lvl8pPr>
          <a:lvl9pPr marL="2286000" indent="-285750" algn="l">
            <a:defRPr sz="4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zh-CN" sz="18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单播 </a:t>
          </a:r>
          <a:r>
            <a:rPr lang="en-US" altLang="zh-CN" sz="18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(unicast) </a:t>
          </a:r>
          <a:r>
            <a:rPr lang="zh-CN" altLang="zh-CN" sz="18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帧（一对一）</a:t>
          </a:r>
          <a:endParaRPr lang="zh-CN" altLang="en-US" sz="1800" b="1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zh-CN" sz="18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广播 </a:t>
          </a:r>
          <a:r>
            <a:rPr lang="en-US" altLang="zh-CN" sz="18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(broadcast) </a:t>
          </a:r>
          <a:r>
            <a:rPr lang="zh-CN" altLang="zh-CN" sz="18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帧（一对全体）</a:t>
          </a:r>
          <a:endParaRPr lang="zh-CN" altLang="zh-CN" sz="1800" b="1" dirty="0" smtClean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zh-CN" sz="18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多播 </a:t>
          </a:r>
          <a:r>
            <a:rPr lang="en-US" altLang="zh-CN" sz="18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(multicast) </a:t>
          </a:r>
          <a:r>
            <a:rPr lang="zh-CN" altLang="zh-CN" sz="18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>帧（一对多）</a:t>
          </a:r>
          <a:endParaRPr lang="zh-CN" altLang="zh-CN" sz="1800" b="1" dirty="0" smtClean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zh-CN" sz="1800" b="1" dirty="0" smtClean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0" y="1092303"/>
        <a:ext cx="6465456" cy="1387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670561" y="819275"/>
            <a:ext cx="10838687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747151" y="775105"/>
            <a:ext cx="467487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3.3.5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以太网的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670561" y="1336723"/>
            <a:ext cx="10667999" cy="1360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buClr>
                <a:srgbClr val="0070C0"/>
              </a:buClr>
            </a:pP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主要内容：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8605" indent="-268605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1.  MAC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层的硬件地址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8605" indent="-268605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2.  MAC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帧的格式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670561" y="1313351"/>
            <a:ext cx="10991887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硬件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地址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又称为</a:t>
            </a:r>
            <a:r>
              <a:rPr lang="zh-CN" altLang="en-US" sz="2665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物理地址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，或 </a:t>
            </a:r>
            <a:r>
              <a:rPr lang="en-US" altLang="zh-CN" sz="2665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地址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。 </a:t>
            </a:r>
            <a:endParaRPr lang="en-US" altLang="zh-CN" sz="2665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IEEE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802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标准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为局域网规定了一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种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48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的全球地址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（简称为地址）是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指局域网上的每一台计算机中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固化在适配器</a:t>
            </a: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ROM </a:t>
            </a: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中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的地址。</a:t>
            </a:r>
            <a:endParaRPr lang="zh-CN" altLang="en-US" sz="2665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70561" y="82201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62853" y="791225"/>
            <a:ext cx="365315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  MAC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层的硬件</a:t>
            </a:r>
            <a:r>
              <a:rPr lang="zh-CN" altLang="en-US" sz="26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地址</a:t>
            </a:r>
            <a:endParaRPr lang="fr-FR" altLang="zh-CN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0561" y="3153860"/>
            <a:ext cx="10838687" cy="1863327"/>
            <a:chOff x="502921" y="2343231"/>
            <a:chExt cx="8129015" cy="1397495"/>
          </a:xfrm>
        </p:grpSpPr>
        <p:sp>
          <p:nvSpPr>
            <p:cNvPr id="12" name="对角圆角矩形 11"/>
            <p:cNvSpPr/>
            <p:nvPr/>
          </p:nvSpPr>
          <p:spPr>
            <a:xfrm>
              <a:off x="502921" y="2343231"/>
              <a:ext cx="8129015" cy="1397495"/>
            </a:xfrm>
            <a:prstGeom prst="round2DiagRect">
              <a:avLst/>
            </a:prstGeom>
            <a:solidFill>
              <a:srgbClr val="0098F6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" name="矩形 12"/>
            <p:cNvSpPr/>
            <p:nvPr/>
          </p:nvSpPr>
          <p:spPr>
            <a:xfrm>
              <a:off x="836445" y="2467202"/>
              <a:ext cx="7494755" cy="8472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700"/>
                </a:lnSpc>
              </a:pPr>
              <a:r>
                <a:rPr lang="zh-CN" altLang="en-US" sz="2400" b="1" dirty="0" smtClean="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rPr>
                <a:t>注意</a:t>
              </a:r>
              <a:r>
                <a:rPr lang="zh-CN" altLang="en-US" sz="2400" b="1" dirty="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如果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连接在局域网上的主机或路由器安装有多个适配器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，这样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的主机或路由器就有多个“地址”。更准确些说，这种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48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位“地址”应当是某个</a:t>
              </a:r>
              <a:r>
                <a:rPr lang="zh-CN" altLang="en-US" sz="2400" b="1" dirty="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rPr>
                <a:t>接口的标识符。</a:t>
              </a:r>
              <a:endParaRPr lang="zh-CN" altLang="en-US" sz="24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670561" y="3074428"/>
            <a:ext cx="11028832" cy="2399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IEEE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管理机构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RA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负责向厂家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分配</a:t>
            </a:r>
            <a:r>
              <a:rPr lang="zh-CN" altLang="en-US" sz="2665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前 </a:t>
            </a:r>
            <a:r>
              <a:rPr lang="en-US" altLang="zh-CN" sz="2665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altLang="en-US" sz="2665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zh-CN" altLang="en-US" sz="2665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字节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即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高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24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，称为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组织唯一</a:t>
            </a: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标识符 </a:t>
            </a:r>
            <a:r>
              <a:rPr lang="en-US" altLang="zh-CN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OUI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(Organizationally Unique Identifier)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厂家自行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指派</a:t>
            </a:r>
            <a:r>
              <a:rPr lang="zh-CN" altLang="en-US" sz="2665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后 </a:t>
            </a:r>
            <a:r>
              <a:rPr lang="en-US" altLang="zh-CN" sz="2665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altLang="en-US" sz="2665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zh-CN" altLang="en-US" sz="2665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字节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即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低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24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，称为</a:t>
            </a: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扩展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标识符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extended identifier)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665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必须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保证生产出的适配器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没有重复地址</a:t>
            </a: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665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地址被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固化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在适配器的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ROM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中。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670561" y="82201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495581" y="791225"/>
            <a:ext cx="31877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48 </a:t>
            </a:r>
            <a:r>
              <a:rPr lang="zh-CN" altLang="en-US" sz="26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位的</a:t>
            </a:r>
            <a:r>
              <a:rPr lang="en-US" altLang="zh-CN" sz="26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地址</a:t>
            </a:r>
            <a:endParaRPr lang="fr-FR" altLang="zh-CN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70561" y="1403181"/>
            <a:ext cx="10765535" cy="169285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269551" y="1532469"/>
            <a:ext cx="5813871" cy="1415339"/>
            <a:chOff x="2360712" y="5191736"/>
            <a:chExt cx="5184576" cy="1449709"/>
          </a:xfrm>
        </p:grpSpPr>
        <p:grpSp>
          <p:nvGrpSpPr>
            <p:cNvPr id="7" name="组合 6"/>
            <p:cNvGrpSpPr/>
            <p:nvPr/>
          </p:nvGrpSpPr>
          <p:grpSpPr>
            <a:xfrm>
              <a:off x="2360712" y="5191736"/>
              <a:ext cx="5184576" cy="901560"/>
              <a:chOff x="2000672" y="5119728"/>
              <a:chExt cx="5184576" cy="901560"/>
            </a:xfrm>
          </p:grpSpPr>
          <p:sp>
            <p:nvSpPr>
              <p:cNvPr id="9" name="矩形 8"/>
              <p:cNvSpPr/>
              <p:nvPr/>
            </p:nvSpPr>
            <p:spPr bwMode="auto">
              <a:xfrm>
                <a:off x="2000672" y="5517232"/>
                <a:ext cx="2592288" cy="504056"/>
              </a:xfrm>
              <a:prstGeom prst="rect">
                <a:avLst/>
              </a:prstGeom>
              <a:solidFill>
                <a:srgbClr val="00FF99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20" tIns="60960" rIns="121920" bIns="60960" numCol="1" rtlCol="0" anchor="ctr" anchorCtr="0" compatLnSpc="1"/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135" b="1" i="0" u="none" strike="noStrike" cap="none" normalizeH="0" baseline="0" dirty="0" smtClean="0">
                    <a:ln>
                      <a:noFill/>
                    </a:ln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组织唯一标识符</a:t>
                </a:r>
                <a:endParaRPr kumimoji="0" lang="zh-CN" altLang="en-US" sz="2135" b="1" i="0" u="none" strike="noStrike" cap="none" normalizeH="0" baseline="0" dirty="0" smtClean="0">
                  <a:ln>
                    <a:noFill/>
                  </a:ln>
                  <a:effectLst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 bwMode="auto">
              <a:xfrm>
                <a:off x="4592960" y="5517232"/>
                <a:ext cx="2592288" cy="504056"/>
              </a:xfrm>
              <a:prstGeom prst="rect">
                <a:avLst/>
              </a:prstGeom>
              <a:solidFill>
                <a:srgbClr val="0000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20" tIns="60960" rIns="121920" bIns="60960" numCol="1" rtlCol="0" anchor="ctr" anchorCtr="0" compatLnSpc="1"/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zh-CN" altLang="en-US" sz="2135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扩展</a:t>
                </a:r>
                <a:r>
                  <a:rPr kumimoji="0" lang="zh-CN" altLang="en-US" sz="2135" b="1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唯一标识符</a:t>
                </a:r>
                <a:endParaRPr kumimoji="0" lang="zh-CN" altLang="en-US" sz="2135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" name="TextBox 12"/>
              <p:cNvSpPr txBox="1"/>
              <p:nvPr/>
            </p:nvSpPr>
            <p:spPr>
              <a:xfrm>
                <a:off x="2456485" y="5119728"/>
                <a:ext cx="1740140" cy="3876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865" b="1" dirty="0" smtClean="0">
                    <a:solidFill>
                      <a:srgbClr val="0000C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 </a:t>
                </a:r>
                <a:r>
                  <a:rPr lang="zh-CN" altLang="en-US" sz="1865" b="1" dirty="0" smtClean="0">
                    <a:solidFill>
                      <a:srgbClr val="0000C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字节（</a:t>
                </a:r>
                <a:r>
                  <a:rPr lang="en-US" altLang="zh-CN" sz="1865" b="1" dirty="0" smtClean="0">
                    <a:solidFill>
                      <a:srgbClr val="0000C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24 </a:t>
                </a:r>
                <a:r>
                  <a:rPr lang="zh-CN" altLang="en-US" sz="1865" b="1" dirty="0" smtClean="0">
                    <a:solidFill>
                      <a:srgbClr val="0000C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位）</a:t>
                </a:r>
                <a:endParaRPr lang="zh-CN" altLang="en-US" sz="1865" b="1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2" name="TextBox 13"/>
              <p:cNvSpPr txBox="1"/>
              <p:nvPr/>
            </p:nvSpPr>
            <p:spPr>
              <a:xfrm>
                <a:off x="5019034" y="5119728"/>
                <a:ext cx="1740140" cy="3876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865" b="1" dirty="0" smtClean="0">
                    <a:solidFill>
                      <a:srgbClr val="0000C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 </a:t>
                </a:r>
                <a:r>
                  <a:rPr lang="zh-CN" altLang="en-US" sz="1865" b="1" dirty="0" smtClean="0">
                    <a:solidFill>
                      <a:srgbClr val="0000C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字节（</a:t>
                </a:r>
                <a:r>
                  <a:rPr lang="en-US" altLang="zh-CN" sz="1865" b="1" dirty="0" smtClean="0">
                    <a:solidFill>
                      <a:srgbClr val="0000C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24 </a:t>
                </a:r>
                <a:r>
                  <a:rPr lang="zh-CN" altLang="en-US" sz="1865" b="1" dirty="0" smtClean="0">
                    <a:solidFill>
                      <a:srgbClr val="0000C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位）</a:t>
                </a:r>
                <a:endParaRPr lang="zh-CN" altLang="en-US" sz="1865" b="1" dirty="0">
                  <a:solidFill>
                    <a:srgbClr val="0000C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8" name="矩形 7"/>
            <p:cNvSpPr/>
            <p:nvPr/>
          </p:nvSpPr>
          <p:spPr>
            <a:xfrm>
              <a:off x="3080161" y="6210867"/>
              <a:ext cx="3975539" cy="4305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48 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位的 </a:t>
              </a:r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lang="zh-CN" altLang="en-US" sz="2135" b="1" dirty="0" smtClean="0">
                  <a:latin typeface="微软雅黑" panose="020B0503020204020204" charset="-122"/>
                  <a:ea typeface="微软雅黑" panose="020B0503020204020204" charset="-122"/>
                </a:rPr>
                <a:t>地址 （</a:t>
              </a:r>
              <a:r>
                <a:rPr lang="en-US" altLang="zh-CN" sz="2135" b="1" dirty="0" smtClean="0">
                  <a:latin typeface="微软雅黑" panose="020B0503020204020204" charset="-122"/>
                  <a:ea typeface="微软雅黑" panose="020B0503020204020204" charset="-122"/>
                </a:rPr>
                <a:t>EUI-48</a:t>
              </a:r>
              <a:r>
                <a:rPr lang="zh-CN" altLang="en-US" sz="2135" b="1" dirty="0" smtClean="0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zh-CN" altLang="en-US" sz="2135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670561" y="1313351"/>
            <a:ext cx="10991887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IEEE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规定地址字段的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第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的最低位为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I/G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(Individual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Group)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位。</a:t>
            </a:r>
            <a:endParaRPr lang="en-US" altLang="zh-CN" sz="2665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单站</a:t>
            </a: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地址：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I/G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位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=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组地址：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I/G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位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=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。组地址用来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进行</a:t>
            </a:r>
            <a:r>
              <a:rPr lang="zh-CN" altLang="en-US" sz="2665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zh-CN" altLang="en-US" sz="2665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播。</a:t>
            </a:r>
            <a:endParaRPr lang="zh-CN" altLang="en-US" sz="2665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广播地址：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所有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48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位都为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（全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r>
              <a:rPr lang="zh-CN" altLang="en-US" sz="2665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只能作为目的地址使用</a:t>
            </a:r>
            <a:r>
              <a:rPr lang="zh-CN" altLang="en-US" sz="2665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665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70561" y="82201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793906" y="791225"/>
            <a:ext cx="459105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单站地址，组地址，广播地址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670561" y="1313351"/>
            <a:ext cx="10991887" cy="1758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IEEE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把地址字段第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字节的最低第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位规定为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G/L (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Global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Local)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全球</a:t>
            </a: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管理：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G/L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位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= 0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。厂商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向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IEEE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购买的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OUI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都属于全球管理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665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本地管理：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G/L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位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= 1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。 这时用户可任意分配网络上的地址。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70561" y="82201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472086" y="791225"/>
            <a:ext cx="323469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全球管理与本地管理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670561" y="1313351"/>
            <a:ext cx="10991887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每收到一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帧，先用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硬件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检查帧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中的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地址。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如果是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发往本站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的帧则收下，然后再进行其他的处理。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否则就将此帧丢弃，不再进行其他的处理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70561" y="822012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472087" y="791225"/>
            <a:ext cx="323469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适配器具有</a:t>
            </a:r>
            <a:r>
              <a:rPr lang="zh-CN" altLang="en-US" sz="2665" b="1" dirty="0" smtClean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过滤功能</a:t>
            </a:r>
            <a:endParaRPr lang="zh-CN" altLang="en-US" sz="2665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图示 4"/>
          <p:cNvGraphicFramePr/>
          <p:nvPr/>
        </p:nvGraphicFramePr>
        <p:xfrm>
          <a:off x="1145301" y="3146628"/>
          <a:ext cx="6465456" cy="2486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" name="矩形 1"/>
          <p:cNvSpPr/>
          <p:nvPr/>
        </p:nvSpPr>
        <p:spPr>
          <a:xfrm>
            <a:off x="7833931" y="3202555"/>
            <a:ext cx="3717677" cy="17583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混杂方式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(promiscuous mode)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工作的以太网适配器只要“听到”有帧在以太网上传输就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都接收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下来。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670561" y="1295128"/>
            <a:ext cx="10253471" cy="178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常用的以太网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有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种标准：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0725" indent="-342900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DIX Ethernet V2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标准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20725" indent="-342900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IEEE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802.3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标准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最常用的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帧是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的格式。</a:t>
            </a:r>
            <a:endParaRPr lang="zh-CN" altLang="en-US" sz="2665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670561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652426" y="781253"/>
            <a:ext cx="287401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 MAC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帧的</a:t>
            </a:r>
            <a:r>
              <a:rPr lang="zh-CN" altLang="en-US" sz="26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endParaRPr lang="fr-FR" altLang="zh-CN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670561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3970118" y="781253"/>
            <a:ext cx="42386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70560" y="1382496"/>
            <a:ext cx="10838687" cy="422582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95783" y="1641752"/>
            <a:ext cx="9207811" cy="3809987"/>
            <a:chOff x="1046837" y="1375398"/>
            <a:chExt cx="6905858" cy="2857490"/>
          </a:xfrm>
        </p:grpSpPr>
        <p:sp>
          <p:nvSpPr>
            <p:cNvPr id="7" name="Line 3"/>
            <p:cNvSpPr>
              <a:spLocks noChangeShapeType="1"/>
            </p:cNvSpPr>
            <p:nvPr/>
          </p:nvSpPr>
          <p:spPr bwMode="auto">
            <a:xfrm>
              <a:off x="1355105" y="2645249"/>
              <a:ext cx="6597590" cy="0"/>
            </a:xfrm>
            <a:prstGeom prst="line">
              <a:avLst/>
            </a:prstGeom>
            <a:noFill/>
            <a:ln w="25400" cmpd="sng">
              <a:solidFill>
                <a:srgbClr val="0000CC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2392440" y="2797605"/>
              <a:ext cx="4746129" cy="338338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176938" y="2843902"/>
              <a:ext cx="1252061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以太网 </a:t>
              </a:r>
              <a:r>
                <a:rPr kumimoji="1" lang="en-US" altLang="zh-CN" sz="1600" b="1" dirty="0"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帧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7218455" y="2851052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物理层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Rectangle 26"/>
            <p:cNvSpPr>
              <a:spLocks noChangeArrowheads="1"/>
            </p:cNvSpPr>
            <p:nvPr/>
          </p:nvSpPr>
          <p:spPr bwMode="auto">
            <a:xfrm>
              <a:off x="7189085" y="2211483"/>
              <a:ext cx="749618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Line 27"/>
            <p:cNvSpPr>
              <a:spLocks noChangeShapeType="1"/>
            </p:cNvSpPr>
            <p:nvPr/>
          </p:nvSpPr>
          <p:spPr bwMode="auto">
            <a:xfrm flipH="1">
              <a:off x="2386566" y="2457646"/>
              <a:ext cx="1175" cy="35135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Line 28"/>
            <p:cNvSpPr>
              <a:spLocks noChangeShapeType="1"/>
            </p:cNvSpPr>
            <p:nvPr/>
          </p:nvSpPr>
          <p:spPr bwMode="auto">
            <a:xfrm>
              <a:off x="7130346" y="2506444"/>
              <a:ext cx="8224" cy="29496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Rectangle 29"/>
            <p:cNvSpPr>
              <a:spLocks noChangeArrowheads="1"/>
            </p:cNvSpPr>
            <p:nvPr/>
          </p:nvSpPr>
          <p:spPr bwMode="auto">
            <a:xfrm>
              <a:off x="1386824" y="3484588"/>
              <a:ext cx="3122679" cy="28411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Rectangle 30"/>
            <p:cNvSpPr>
              <a:spLocks noChangeArrowheads="1"/>
            </p:cNvSpPr>
            <p:nvPr/>
          </p:nvSpPr>
          <p:spPr bwMode="auto">
            <a:xfrm>
              <a:off x="1390505" y="3513868"/>
              <a:ext cx="3299969" cy="238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295" b="1" dirty="0" smtClean="0">
                  <a:latin typeface="微软雅黑" panose="020B0503020204020204" charset="-122"/>
                  <a:ea typeface="微软雅黑" panose="020B0503020204020204" charset="-122"/>
                </a:rPr>
                <a:t>10101010101010           101010101010 10101011</a:t>
              </a:r>
              <a:endParaRPr kumimoji="1" lang="en-US" altLang="zh-CN" sz="1295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Line 31"/>
            <p:cNvSpPr>
              <a:spLocks noChangeShapeType="1"/>
            </p:cNvSpPr>
            <p:nvPr/>
          </p:nvSpPr>
          <p:spPr bwMode="auto">
            <a:xfrm>
              <a:off x="3870054" y="3482419"/>
              <a:ext cx="0" cy="2949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Rectangle 32"/>
            <p:cNvSpPr>
              <a:spLocks noChangeArrowheads="1"/>
            </p:cNvSpPr>
            <p:nvPr/>
          </p:nvSpPr>
          <p:spPr bwMode="auto">
            <a:xfrm>
              <a:off x="2369304" y="3794731"/>
              <a:ext cx="7905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前同步码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Rectangle 33"/>
            <p:cNvSpPr>
              <a:spLocks noChangeArrowheads="1"/>
            </p:cNvSpPr>
            <p:nvPr/>
          </p:nvSpPr>
          <p:spPr bwMode="auto">
            <a:xfrm>
              <a:off x="3908344" y="3775212"/>
              <a:ext cx="638175" cy="457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帧开始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定界符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Rectangle 34"/>
            <p:cNvSpPr>
              <a:spLocks noChangeArrowheads="1"/>
            </p:cNvSpPr>
            <p:nvPr/>
          </p:nvSpPr>
          <p:spPr bwMode="auto">
            <a:xfrm>
              <a:off x="2412505" y="3254692"/>
              <a:ext cx="624840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7 </a:t>
              </a:r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Rectangle 35"/>
            <p:cNvSpPr>
              <a:spLocks noChangeArrowheads="1"/>
            </p:cNvSpPr>
            <p:nvPr/>
          </p:nvSpPr>
          <p:spPr bwMode="auto">
            <a:xfrm>
              <a:off x="3935806" y="3179275"/>
              <a:ext cx="624840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1 </a:t>
              </a:r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Line 36"/>
            <p:cNvSpPr>
              <a:spLocks noChangeShapeType="1"/>
            </p:cNvSpPr>
            <p:nvPr/>
          </p:nvSpPr>
          <p:spPr bwMode="auto">
            <a:xfrm flipV="1">
              <a:off x="1396223" y="3146250"/>
              <a:ext cx="216161" cy="33616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Line 37"/>
            <p:cNvSpPr>
              <a:spLocks noChangeShapeType="1"/>
            </p:cNvSpPr>
            <p:nvPr/>
          </p:nvSpPr>
          <p:spPr bwMode="auto">
            <a:xfrm>
              <a:off x="2380692" y="3154926"/>
              <a:ext cx="2128810" cy="32749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Text Box 38"/>
            <p:cNvSpPr txBox="1">
              <a:spLocks noChangeArrowheads="1"/>
            </p:cNvSpPr>
            <p:nvPr/>
          </p:nvSpPr>
          <p:spPr bwMode="auto">
            <a:xfrm>
              <a:off x="2640343" y="3490011"/>
              <a:ext cx="308610" cy="283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865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…</a:t>
              </a:r>
              <a:endParaRPr kumimoji="1" lang="en-US" altLang="zh-CN" sz="1865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Rectangle 41"/>
            <p:cNvSpPr>
              <a:spLocks noChangeArrowheads="1"/>
            </p:cNvSpPr>
            <p:nvPr/>
          </p:nvSpPr>
          <p:spPr bwMode="auto">
            <a:xfrm>
              <a:off x="1633530" y="2801863"/>
              <a:ext cx="754212" cy="334000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rgbClr val="0000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Rectangle 42"/>
            <p:cNvSpPr>
              <a:spLocks noChangeArrowheads="1"/>
            </p:cNvSpPr>
            <p:nvPr/>
          </p:nvSpPr>
          <p:spPr bwMode="auto">
            <a:xfrm>
              <a:off x="1734561" y="2864302"/>
              <a:ext cx="624840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8 </a:t>
              </a:r>
              <a:r>
                <a:rPr kumimoji="1" lang="zh-CN" altLang="en-US" sz="1600" b="1"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kumimoji="1" lang="zh-CN" altLang="en-US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AutoShape 43"/>
            <p:cNvSpPr>
              <a:spLocks noChangeArrowheads="1"/>
            </p:cNvSpPr>
            <p:nvPr/>
          </p:nvSpPr>
          <p:spPr bwMode="auto">
            <a:xfrm>
              <a:off x="1046837" y="2480447"/>
              <a:ext cx="558023" cy="216341"/>
            </a:xfrm>
            <a:prstGeom prst="wedgeRoundRectCallout">
              <a:avLst>
                <a:gd name="adj1" fmla="val 67862"/>
                <a:gd name="adj2" fmla="val 152688"/>
                <a:gd name="adj3" fmla="val 1666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762000" eaLnBrk="0" hangingPunct="0"/>
              <a:endParaRPr kumimoji="1" lang="zh-CN" altLang="zh-CN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Rectangle 44"/>
            <p:cNvSpPr>
              <a:spLocks noChangeArrowheads="1"/>
            </p:cNvSpPr>
            <p:nvPr/>
          </p:nvSpPr>
          <p:spPr bwMode="auto">
            <a:xfrm>
              <a:off x="1052603" y="2457115"/>
              <a:ext cx="54862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0650" tIns="59266" rIns="120650" bIns="59266">
              <a:spAutoFit/>
            </a:bodyPr>
            <a:lstStyle/>
            <a:p>
              <a:pPr algn="ctr"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插入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Rectangle 47"/>
            <p:cNvSpPr>
              <a:spLocks noChangeArrowheads="1"/>
            </p:cNvSpPr>
            <p:nvPr/>
          </p:nvSpPr>
          <p:spPr bwMode="auto">
            <a:xfrm>
              <a:off x="7295991" y="1604210"/>
              <a:ext cx="529590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IP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Line 48"/>
            <p:cNvSpPr>
              <a:spLocks noChangeShapeType="1"/>
            </p:cNvSpPr>
            <p:nvPr/>
          </p:nvSpPr>
          <p:spPr bwMode="auto">
            <a:xfrm flipV="1">
              <a:off x="7183211" y="1968573"/>
              <a:ext cx="648644" cy="0"/>
            </a:xfrm>
            <a:prstGeom prst="line">
              <a:avLst/>
            </a:prstGeom>
            <a:noFill/>
            <a:ln w="25400" cmpd="sng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AutoShape 64"/>
            <p:cNvSpPr>
              <a:spLocks noChangeArrowheads="1"/>
            </p:cNvSpPr>
            <p:nvPr/>
          </p:nvSpPr>
          <p:spPr bwMode="auto">
            <a:xfrm rot="16200000" flipH="1">
              <a:off x="4583729" y="2590184"/>
              <a:ext cx="416416" cy="170343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Rectangle 66"/>
            <p:cNvSpPr>
              <a:spLocks noChangeArrowheads="1"/>
            </p:cNvSpPr>
            <p:nvPr/>
          </p:nvSpPr>
          <p:spPr bwMode="auto">
            <a:xfrm>
              <a:off x="2386566" y="2162684"/>
              <a:ext cx="4752004" cy="312312"/>
            </a:xfrm>
            <a:prstGeom prst="rect">
              <a:avLst/>
            </a:prstGeom>
            <a:solidFill>
              <a:srgbClr val="00FF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Line 67"/>
            <p:cNvSpPr>
              <a:spLocks noChangeShapeType="1"/>
            </p:cNvSpPr>
            <p:nvPr/>
          </p:nvSpPr>
          <p:spPr bwMode="auto">
            <a:xfrm>
              <a:off x="3078514" y="2162684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Line 68"/>
            <p:cNvSpPr>
              <a:spLocks noChangeShapeType="1"/>
            </p:cNvSpPr>
            <p:nvPr/>
          </p:nvSpPr>
          <p:spPr bwMode="auto">
            <a:xfrm>
              <a:off x="3755190" y="2162684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Line 69"/>
            <p:cNvSpPr>
              <a:spLocks noChangeShapeType="1"/>
            </p:cNvSpPr>
            <p:nvPr/>
          </p:nvSpPr>
          <p:spPr bwMode="auto">
            <a:xfrm>
              <a:off x="4431866" y="2162684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Line 70"/>
            <p:cNvSpPr>
              <a:spLocks noChangeShapeType="1"/>
            </p:cNvSpPr>
            <p:nvPr/>
          </p:nvSpPr>
          <p:spPr bwMode="auto">
            <a:xfrm>
              <a:off x="6743842" y="2162684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Rectangle 71"/>
            <p:cNvSpPr>
              <a:spLocks noChangeArrowheads="1"/>
            </p:cNvSpPr>
            <p:nvPr/>
          </p:nvSpPr>
          <p:spPr bwMode="auto">
            <a:xfrm>
              <a:off x="2334876" y="2194132"/>
              <a:ext cx="7905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目的地址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Rectangle 72"/>
            <p:cNvSpPr>
              <a:spLocks noChangeArrowheads="1"/>
            </p:cNvSpPr>
            <p:nvPr/>
          </p:nvSpPr>
          <p:spPr bwMode="auto">
            <a:xfrm>
              <a:off x="3117439" y="2194132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源地址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Rectangle 73"/>
            <p:cNvSpPr>
              <a:spLocks noChangeArrowheads="1"/>
            </p:cNvSpPr>
            <p:nvPr/>
          </p:nvSpPr>
          <p:spPr bwMode="auto">
            <a:xfrm>
              <a:off x="3856730" y="2194132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类型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Rectangle 74"/>
            <p:cNvSpPr>
              <a:spLocks noChangeArrowheads="1"/>
            </p:cNvSpPr>
            <p:nvPr/>
          </p:nvSpPr>
          <p:spPr bwMode="auto">
            <a:xfrm>
              <a:off x="5170491" y="2194132"/>
              <a:ext cx="84772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数        据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Rectangle 75"/>
            <p:cNvSpPr>
              <a:spLocks noChangeArrowheads="1"/>
            </p:cNvSpPr>
            <p:nvPr/>
          </p:nvSpPr>
          <p:spPr bwMode="auto">
            <a:xfrm>
              <a:off x="6703900" y="2194132"/>
              <a:ext cx="460534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FCS</a:t>
              </a:r>
              <a:endParaRPr kumimoji="1"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Rectangle 76"/>
            <p:cNvSpPr>
              <a:spLocks noChangeArrowheads="1"/>
            </p:cNvSpPr>
            <p:nvPr/>
          </p:nvSpPr>
          <p:spPr bwMode="auto">
            <a:xfrm>
              <a:off x="2616413" y="1939245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Rectangle 77"/>
            <p:cNvSpPr>
              <a:spLocks noChangeArrowheads="1"/>
            </p:cNvSpPr>
            <p:nvPr/>
          </p:nvSpPr>
          <p:spPr bwMode="auto">
            <a:xfrm>
              <a:off x="3313822" y="1939245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Rectangle 78"/>
            <p:cNvSpPr>
              <a:spLocks noChangeArrowheads="1"/>
            </p:cNvSpPr>
            <p:nvPr/>
          </p:nvSpPr>
          <p:spPr bwMode="auto">
            <a:xfrm>
              <a:off x="4037138" y="1939245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Rectangle 79"/>
            <p:cNvSpPr>
              <a:spLocks noChangeArrowheads="1"/>
            </p:cNvSpPr>
            <p:nvPr/>
          </p:nvSpPr>
          <p:spPr bwMode="auto">
            <a:xfrm>
              <a:off x="6797938" y="1939245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Rectangle 80"/>
            <p:cNvSpPr>
              <a:spLocks noChangeArrowheads="1"/>
            </p:cNvSpPr>
            <p:nvPr/>
          </p:nvSpPr>
          <p:spPr bwMode="auto">
            <a:xfrm>
              <a:off x="1878614" y="1927225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Text Box 81"/>
            <p:cNvSpPr txBox="1">
              <a:spLocks noChangeArrowheads="1"/>
            </p:cNvSpPr>
            <p:nvPr/>
          </p:nvSpPr>
          <p:spPr bwMode="auto">
            <a:xfrm>
              <a:off x="5679487" y="1916471"/>
              <a:ext cx="906780" cy="2528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46 ~ 1500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Line 107"/>
            <p:cNvSpPr>
              <a:spLocks noChangeShapeType="1"/>
            </p:cNvSpPr>
            <p:nvPr/>
          </p:nvSpPr>
          <p:spPr bwMode="auto">
            <a:xfrm flipH="1">
              <a:off x="2387741" y="1375398"/>
              <a:ext cx="0" cy="79379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Line 108"/>
            <p:cNvSpPr>
              <a:spLocks noChangeShapeType="1"/>
            </p:cNvSpPr>
            <p:nvPr/>
          </p:nvSpPr>
          <p:spPr bwMode="auto">
            <a:xfrm>
              <a:off x="7130346" y="1375399"/>
              <a:ext cx="8224" cy="78728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2" name="Group 109"/>
            <p:cNvGrpSpPr/>
            <p:nvPr/>
          </p:nvGrpSpPr>
          <p:grpSpPr bwMode="auto">
            <a:xfrm>
              <a:off x="4431866" y="1604210"/>
              <a:ext cx="2311976" cy="676676"/>
              <a:chOff x="2715" y="1872"/>
              <a:chExt cx="1968" cy="624"/>
            </a:xfrm>
          </p:grpSpPr>
          <p:sp>
            <p:nvSpPr>
              <p:cNvPr id="54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3508" y="2231"/>
                <a:ext cx="384" cy="145"/>
              </a:xfrm>
              <a:prstGeom prst="rightArrow">
                <a:avLst>
                  <a:gd name="adj1" fmla="val 50000"/>
                  <a:gd name="adj2" fmla="val 132426"/>
                </a:avLst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65" b="1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5" name="Rectangle 111"/>
              <p:cNvSpPr>
                <a:spLocks noChangeArrowheads="1"/>
              </p:cNvSpPr>
              <p:nvPr/>
            </p:nvSpPr>
            <p:spPr bwMode="auto">
              <a:xfrm>
                <a:off x="2715" y="1872"/>
                <a:ext cx="1968" cy="240"/>
              </a:xfrm>
              <a:prstGeom prst="rect">
                <a:avLst/>
              </a:prstGeom>
              <a:solidFill>
                <a:srgbClr val="0000CC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defTabSz="762000" eaLnBrk="0" hangingPunct="0"/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IP </a:t>
                </a: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数据报</a:t>
                </a:r>
                <a:endParaRPr kumimoji="1"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3" name="Rectangle 112"/>
            <p:cNvSpPr>
              <a:spLocks noChangeArrowheads="1"/>
            </p:cNvSpPr>
            <p:nvPr/>
          </p:nvSpPr>
          <p:spPr bwMode="auto">
            <a:xfrm>
              <a:off x="1509008" y="2188710"/>
              <a:ext cx="845820" cy="303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865" b="1" dirty="0">
                  <a:solidFill>
                    <a:srgbClr val="CC00CC"/>
                  </a:solidFill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865" b="1" dirty="0">
                  <a:solidFill>
                    <a:srgbClr val="CC00CC"/>
                  </a:solidFill>
                  <a:latin typeface="微软雅黑" panose="020B0503020204020204" charset="-122"/>
                  <a:ea typeface="微软雅黑" panose="020B0503020204020204" charset="-122"/>
                </a:rPr>
                <a:t>帧</a:t>
              </a:r>
              <a:endParaRPr kumimoji="1" lang="zh-CN" altLang="en-US" sz="1865" b="1" dirty="0">
                <a:solidFill>
                  <a:srgbClr val="CC00C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圆角矩形 48"/>
          <p:cNvSpPr/>
          <p:nvPr/>
        </p:nvSpPr>
        <p:spPr>
          <a:xfrm>
            <a:off x="670560" y="1345552"/>
            <a:ext cx="10838687" cy="43769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367832" y="2341439"/>
            <a:ext cx="8796787" cy="2963316"/>
            <a:chOff x="1025874" y="1600352"/>
            <a:chExt cx="6597590" cy="2222487"/>
          </a:xfrm>
        </p:grpSpPr>
        <p:sp>
          <p:nvSpPr>
            <p:cNvPr id="8" name="Line 3"/>
            <p:cNvSpPr>
              <a:spLocks noChangeShapeType="1"/>
            </p:cNvSpPr>
            <p:nvPr/>
          </p:nvSpPr>
          <p:spPr bwMode="auto">
            <a:xfrm>
              <a:off x="1025874" y="3332145"/>
              <a:ext cx="6597590" cy="0"/>
            </a:xfrm>
            <a:prstGeom prst="line">
              <a:avLst/>
            </a:prstGeom>
            <a:noFill/>
            <a:ln w="25400" cmpd="sng">
              <a:solidFill>
                <a:srgbClr val="0000CC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2063209" y="3484501"/>
              <a:ext cx="4746129" cy="338338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3847707" y="3530798"/>
              <a:ext cx="1252061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以太网 </a:t>
              </a:r>
              <a:r>
                <a:rPr kumimoji="1" lang="en-US" altLang="zh-CN" sz="1600" b="1" dirty="0"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帧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6889224" y="353794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物理层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Rectangle 26"/>
            <p:cNvSpPr>
              <a:spLocks noChangeArrowheads="1"/>
            </p:cNvSpPr>
            <p:nvPr/>
          </p:nvSpPr>
          <p:spPr bwMode="auto">
            <a:xfrm>
              <a:off x="6859854" y="2898379"/>
              <a:ext cx="749618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Line 27"/>
            <p:cNvSpPr>
              <a:spLocks noChangeShapeType="1"/>
            </p:cNvSpPr>
            <p:nvPr/>
          </p:nvSpPr>
          <p:spPr bwMode="auto">
            <a:xfrm flipH="1">
              <a:off x="2057335" y="3144542"/>
              <a:ext cx="1175" cy="35135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Line 28"/>
            <p:cNvSpPr>
              <a:spLocks noChangeShapeType="1"/>
            </p:cNvSpPr>
            <p:nvPr/>
          </p:nvSpPr>
          <p:spPr bwMode="auto">
            <a:xfrm>
              <a:off x="6801115" y="3193340"/>
              <a:ext cx="8224" cy="29496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6966760" y="2291106"/>
              <a:ext cx="529590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IP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Line 48"/>
            <p:cNvSpPr>
              <a:spLocks noChangeShapeType="1"/>
            </p:cNvSpPr>
            <p:nvPr/>
          </p:nvSpPr>
          <p:spPr bwMode="auto">
            <a:xfrm flipV="1">
              <a:off x="6853980" y="2655469"/>
              <a:ext cx="648644" cy="0"/>
            </a:xfrm>
            <a:prstGeom prst="line">
              <a:avLst/>
            </a:prstGeom>
            <a:noFill/>
            <a:ln w="25400" cmpd="sng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AutoShape 64"/>
            <p:cNvSpPr>
              <a:spLocks noChangeArrowheads="1"/>
            </p:cNvSpPr>
            <p:nvPr/>
          </p:nvSpPr>
          <p:spPr bwMode="auto">
            <a:xfrm rot="16200000" flipH="1">
              <a:off x="4254498" y="3277080"/>
              <a:ext cx="416416" cy="170343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Rectangle 66"/>
            <p:cNvSpPr>
              <a:spLocks noChangeArrowheads="1"/>
            </p:cNvSpPr>
            <p:nvPr/>
          </p:nvSpPr>
          <p:spPr bwMode="auto">
            <a:xfrm>
              <a:off x="2057335" y="2849580"/>
              <a:ext cx="4752004" cy="312312"/>
            </a:xfrm>
            <a:prstGeom prst="rect">
              <a:avLst/>
            </a:prstGeom>
            <a:solidFill>
              <a:srgbClr val="00FF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Line 67"/>
            <p:cNvSpPr>
              <a:spLocks noChangeShapeType="1"/>
            </p:cNvSpPr>
            <p:nvPr/>
          </p:nvSpPr>
          <p:spPr bwMode="auto">
            <a:xfrm>
              <a:off x="2749283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Line 68"/>
            <p:cNvSpPr>
              <a:spLocks noChangeShapeType="1"/>
            </p:cNvSpPr>
            <p:nvPr/>
          </p:nvSpPr>
          <p:spPr bwMode="auto">
            <a:xfrm>
              <a:off x="3425959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Line 69"/>
            <p:cNvSpPr>
              <a:spLocks noChangeShapeType="1"/>
            </p:cNvSpPr>
            <p:nvPr/>
          </p:nvSpPr>
          <p:spPr bwMode="auto">
            <a:xfrm>
              <a:off x="4102635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Line 70"/>
            <p:cNvSpPr>
              <a:spLocks noChangeShapeType="1"/>
            </p:cNvSpPr>
            <p:nvPr/>
          </p:nvSpPr>
          <p:spPr bwMode="auto">
            <a:xfrm>
              <a:off x="6414611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Rectangle 71"/>
            <p:cNvSpPr>
              <a:spLocks noChangeArrowheads="1"/>
            </p:cNvSpPr>
            <p:nvPr/>
          </p:nvSpPr>
          <p:spPr bwMode="auto">
            <a:xfrm>
              <a:off x="2005645" y="2881028"/>
              <a:ext cx="7905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目的地址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Rectangle 72"/>
            <p:cNvSpPr>
              <a:spLocks noChangeArrowheads="1"/>
            </p:cNvSpPr>
            <p:nvPr/>
          </p:nvSpPr>
          <p:spPr bwMode="auto">
            <a:xfrm>
              <a:off x="2788208" y="288102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源地址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Rectangle 73"/>
            <p:cNvSpPr>
              <a:spLocks noChangeArrowheads="1"/>
            </p:cNvSpPr>
            <p:nvPr/>
          </p:nvSpPr>
          <p:spPr bwMode="auto">
            <a:xfrm>
              <a:off x="3527499" y="2881028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类型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Rectangle 74"/>
            <p:cNvSpPr>
              <a:spLocks noChangeArrowheads="1"/>
            </p:cNvSpPr>
            <p:nvPr/>
          </p:nvSpPr>
          <p:spPr bwMode="auto">
            <a:xfrm>
              <a:off x="4841260" y="2881028"/>
              <a:ext cx="84772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数        据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Rectangle 75"/>
            <p:cNvSpPr>
              <a:spLocks noChangeArrowheads="1"/>
            </p:cNvSpPr>
            <p:nvPr/>
          </p:nvSpPr>
          <p:spPr bwMode="auto">
            <a:xfrm>
              <a:off x="6374669" y="2881028"/>
              <a:ext cx="460534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FCS</a:t>
              </a:r>
              <a:endParaRPr kumimoji="1"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Rectangle 76"/>
            <p:cNvSpPr>
              <a:spLocks noChangeArrowheads="1"/>
            </p:cNvSpPr>
            <p:nvPr/>
          </p:nvSpPr>
          <p:spPr bwMode="auto">
            <a:xfrm>
              <a:off x="2287182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Rectangle 77"/>
            <p:cNvSpPr>
              <a:spLocks noChangeArrowheads="1"/>
            </p:cNvSpPr>
            <p:nvPr/>
          </p:nvSpPr>
          <p:spPr bwMode="auto">
            <a:xfrm>
              <a:off x="2984591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Rectangle 78"/>
            <p:cNvSpPr>
              <a:spLocks noChangeArrowheads="1"/>
            </p:cNvSpPr>
            <p:nvPr/>
          </p:nvSpPr>
          <p:spPr bwMode="auto">
            <a:xfrm>
              <a:off x="37079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Rectangle 79"/>
            <p:cNvSpPr>
              <a:spLocks noChangeArrowheads="1"/>
            </p:cNvSpPr>
            <p:nvPr/>
          </p:nvSpPr>
          <p:spPr bwMode="auto">
            <a:xfrm>
              <a:off x="64687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Rectangle 80"/>
            <p:cNvSpPr>
              <a:spLocks noChangeArrowheads="1"/>
            </p:cNvSpPr>
            <p:nvPr/>
          </p:nvSpPr>
          <p:spPr bwMode="auto">
            <a:xfrm>
              <a:off x="1623271" y="2614121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Text Box 81"/>
            <p:cNvSpPr txBox="1">
              <a:spLocks noChangeArrowheads="1"/>
            </p:cNvSpPr>
            <p:nvPr/>
          </p:nvSpPr>
          <p:spPr bwMode="auto">
            <a:xfrm>
              <a:off x="5350256" y="2603367"/>
              <a:ext cx="906780" cy="2528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46 ~ 1500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0" name="Group 109"/>
            <p:cNvGrpSpPr/>
            <p:nvPr/>
          </p:nvGrpSpPr>
          <p:grpSpPr bwMode="auto">
            <a:xfrm>
              <a:off x="4102635" y="2291106"/>
              <a:ext cx="2311976" cy="676676"/>
              <a:chOff x="2715" y="1872"/>
              <a:chExt cx="1968" cy="624"/>
            </a:xfrm>
          </p:grpSpPr>
          <p:sp>
            <p:nvSpPr>
              <p:cNvPr id="51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3508" y="2231"/>
                <a:ext cx="384" cy="145"/>
              </a:xfrm>
              <a:prstGeom prst="rightArrow">
                <a:avLst>
                  <a:gd name="adj1" fmla="val 50000"/>
                  <a:gd name="adj2" fmla="val 132426"/>
                </a:avLst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65" b="1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2" name="Rectangle 111"/>
              <p:cNvSpPr>
                <a:spLocks noChangeArrowheads="1"/>
              </p:cNvSpPr>
              <p:nvPr/>
            </p:nvSpPr>
            <p:spPr bwMode="auto">
              <a:xfrm>
                <a:off x="2715" y="1872"/>
                <a:ext cx="1968" cy="240"/>
              </a:xfrm>
              <a:prstGeom prst="rect">
                <a:avLst/>
              </a:prstGeom>
              <a:solidFill>
                <a:srgbClr val="0000CC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defTabSz="762000" eaLnBrk="0" hangingPunct="0"/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IP </a:t>
                </a: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数据报</a:t>
                </a:r>
                <a:endParaRPr kumimoji="1"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4" name="AutoShape 38"/>
            <p:cNvSpPr>
              <a:spLocks noChangeArrowheads="1"/>
            </p:cNvSpPr>
            <p:nvPr/>
          </p:nvSpPr>
          <p:spPr bwMode="auto">
            <a:xfrm>
              <a:off x="3142535" y="1600352"/>
              <a:ext cx="2398729" cy="375516"/>
            </a:xfrm>
            <a:prstGeom prst="wedgeRoundRectCallout">
              <a:avLst>
                <a:gd name="adj1" fmla="val -77281"/>
                <a:gd name="adj2" fmla="val 299612"/>
                <a:gd name="adj3" fmla="val 16667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/>
            <a:lstStyle/>
            <a:p>
              <a:pPr algn="ctr"/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目的地址字段 </a:t>
              </a:r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6 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lang="zh-CN" altLang="en-US" sz="2135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8" name="AutoShape 5"/>
          <p:cNvSpPr>
            <a:spLocks noChangeArrowheads="1"/>
          </p:cNvSpPr>
          <p:nvPr/>
        </p:nvSpPr>
        <p:spPr bwMode="auto">
          <a:xfrm>
            <a:off x="670561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57" name="Rectangle 6"/>
          <p:cNvSpPr>
            <a:spLocks noChangeArrowheads="1"/>
          </p:cNvSpPr>
          <p:nvPr/>
        </p:nvSpPr>
        <p:spPr bwMode="auto">
          <a:xfrm>
            <a:off x="3970118" y="781253"/>
            <a:ext cx="42386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圆角矩形 47"/>
          <p:cNvSpPr/>
          <p:nvPr/>
        </p:nvSpPr>
        <p:spPr>
          <a:xfrm>
            <a:off x="670560" y="1345552"/>
            <a:ext cx="10838687" cy="43769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367832" y="2341439"/>
            <a:ext cx="8796787" cy="2963316"/>
            <a:chOff x="1025874" y="1600352"/>
            <a:chExt cx="6597590" cy="2222487"/>
          </a:xfrm>
        </p:grpSpPr>
        <p:sp>
          <p:nvSpPr>
            <p:cNvPr id="20" name="Line 3"/>
            <p:cNvSpPr>
              <a:spLocks noChangeShapeType="1"/>
            </p:cNvSpPr>
            <p:nvPr/>
          </p:nvSpPr>
          <p:spPr bwMode="auto">
            <a:xfrm>
              <a:off x="1025874" y="3332145"/>
              <a:ext cx="6597590" cy="0"/>
            </a:xfrm>
            <a:prstGeom prst="line">
              <a:avLst/>
            </a:prstGeom>
            <a:noFill/>
            <a:ln w="25400" cmpd="sng">
              <a:solidFill>
                <a:srgbClr val="0000CC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2063209" y="3484501"/>
              <a:ext cx="4746129" cy="338338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Rectangle 6"/>
            <p:cNvSpPr>
              <a:spLocks noChangeArrowheads="1"/>
            </p:cNvSpPr>
            <p:nvPr/>
          </p:nvSpPr>
          <p:spPr bwMode="auto">
            <a:xfrm>
              <a:off x="3849543" y="3530798"/>
              <a:ext cx="1252061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以太网 </a:t>
              </a:r>
              <a:r>
                <a:rPr kumimoji="1" lang="en-US" altLang="zh-CN" sz="1600" b="1" dirty="0"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帧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6889224" y="353794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物理层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Rectangle 26"/>
            <p:cNvSpPr>
              <a:spLocks noChangeArrowheads="1"/>
            </p:cNvSpPr>
            <p:nvPr/>
          </p:nvSpPr>
          <p:spPr bwMode="auto">
            <a:xfrm>
              <a:off x="6859854" y="2898379"/>
              <a:ext cx="749618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 flipH="1">
              <a:off x="2057335" y="3144542"/>
              <a:ext cx="1175" cy="35135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Line 28"/>
            <p:cNvSpPr>
              <a:spLocks noChangeShapeType="1"/>
            </p:cNvSpPr>
            <p:nvPr/>
          </p:nvSpPr>
          <p:spPr bwMode="auto">
            <a:xfrm>
              <a:off x="6801115" y="3193340"/>
              <a:ext cx="8224" cy="29496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6966760" y="2291106"/>
              <a:ext cx="529590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IP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Line 48"/>
            <p:cNvSpPr>
              <a:spLocks noChangeShapeType="1"/>
            </p:cNvSpPr>
            <p:nvPr/>
          </p:nvSpPr>
          <p:spPr bwMode="auto">
            <a:xfrm flipV="1">
              <a:off x="6853980" y="2655469"/>
              <a:ext cx="648644" cy="0"/>
            </a:xfrm>
            <a:prstGeom prst="line">
              <a:avLst/>
            </a:prstGeom>
            <a:noFill/>
            <a:ln w="25400" cmpd="sng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AutoShape 64"/>
            <p:cNvSpPr>
              <a:spLocks noChangeArrowheads="1"/>
            </p:cNvSpPr>
            <p:nvPr/>
          </p:nvSpPr>
          <p:spPr bwMode="auto">
            <a:xfrm rot="16200000" flipH="1">
              <a:off x="4254498" y="3277080"/>
              <a:ext cx="416416" cy="170343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Rectangle 66"/>
            <p:cNvSpPr>
              <a:spLocks noChangeArrowheads="1"/>
            </p:cNvSpPr>
            <p:nvPr/>
          </p:nvSpPr>
          <p:spPr bwMode="auto">
            <a:xfrm>
              <a:off x="2057335" y="2849580"/>
              <a:ext cx="4752004" cy="312312"/>
            </a:xfrm>
            <a:prstGeom prst="rect">
              <a:avLst/>
            </a:prstGeom>
            <a:solidFill>
              <a:srgbClr val="00FF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Line 67"/>
            <p:cNvSpPr>
              <a:spLocks noChangeShapeType="1"/>
            </p:cNvSpPr>
            <p:nvPr/>
          </p:nvSpPr>
          <p:spPr bwMode="auto">
            <a:xfrm>
              <a:off x="2749283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Line 68"/>
            <p:cNvSpPr>
              <a:spLocks noChangeShapeType="1"/>
            </p:cNvSpPr>
            <p:nvPr/>
          </p:nvSpPr>
          <p:spPr bwMode="auto">
            <a:xfrm>
              <a:off x="3425959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Line 69"/>
            <p:cNvSpPr>
              <a:spLocks noChangeShapeType="1"/>
            </p:cNvSpPr>
            <p:nvPr/>
          </p:nvSpPr>
          <p:spPr bwMode="auto">
            <a:xfrm>
              <a:off x="4102635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Line 70"/>
            <p:cNvSpPr>
              <a:spLocks noChangeShapeType="1"/>
            </p:cNvSpPr>
            <p:nvPr/>
          </p:nvSpPr>
          <p:spPr bwMode="auto">
            <a:xfrm>
              <a:off x="6414611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Rectangle 71"/>
            <p:cNvSpPr>
              <a:spLocks noChangeArrowheads="1"/>
            </p:cNvSpPr>
            <p:nvPr/>
          </p:nvSpPr>
          <p:spPr bwMode="auto">
            <a:xfrm>
              <a:off x="2005645" y="2881028"/>
              <a:ext cx="7905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目的地址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Rectangle 72"/>
            <p:cNvSpPr>
              <a:spLocks noChangeArrowheads="1"/>
            </p:cNvSpPr>
            <p:nvPr/>
          </p:nvSpPr>
          <p:spPr bwMode="auto">
            <a:xfrm>
              <a:off x="2788208" y="288102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源地址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Rectangle 73"/>
            <p:cNvSpPr>
              <a:spLocks noChangeArrowheads="1"/>
            </p:cNvSpPr>
            <p:nvPr/>
          </p:nvSpPr>
          <p:spPr bwMode="auto">
            <a:xfrm>
              <a:off x="3527499" y="2881028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类型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Rectangle 74"/>
            <p:cNvSpPr>
              <a:spLocks noChangeArrowheads="1"/>
            </p:cNvSpPr>
            <p:nvPr/>
          </p:nvSpPr>
          <p:spPr bwMode="auto">
            <a:xfrm>
              <a:off x="4841260" y="2881028"/>
              <a:ext cx="84772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数        据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Rectangle 75"/>
            <p:cNvSpPr>
              <a:spLocks noChangeArrowheads="1"/>
            </p:cNvSpPr>
            <p:nvPr/>
          </p:nvSpPr>
          <p:spPr bwMode="auto">
            <a:xfrm>
              <a:off x="6374669" y="2881028"/>
              <a:ext cx="460534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FCS</a:t>
              </a:r>
              <a:endParaRPr kumimoji="1"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Rectangle 76"/>
            <p:cNvSpPr>
              <a:spLocks noChangeArrowheads="1"/>
            </p:cNvSpPr>
            <p:nvPr/>
          </p:nvSpPr>
          <p:spPr bwMode="auto">
            <a:xfrm>
              <a:off x="2287182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Rectangle 77"/>
            <p:cNvSpPr>
              <a:spLocks noChangeArrowheads="1"/>
            </p:cNvSpPr>
            <p:nvPr/>
          </p:nvSpPr>
          <p:spPr bwMode="auto">
            <a:xfrm>
              <a:off x="2984591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Rectangle 78"/>
            <p:cNvSpPr>
              <a:spLocks noChangeArrowheads="1"/>
            </p:cNvSpPr>
            <p:nvPr/>
          </p:nvSpPr>
          <p:spPr bwMode="auto">
            <a:xfrm>
              <a:off x="37079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Rectangle 79"/>
            <p:cNvSpPr>
              <a:spLocks noChangeArrowheads="1"/>
            </p:cNvSpPr>
            <p:nvPr/>
          </p:nvSpPr>
          <p:spPr bwMode="auto">
            <a:xfrm>
              <a:off x="64687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Rectangle 80"/>
            <p:cNvSpPr>
              <a:spLocks noChangeArrowheads="1"/>
            </p:cNvSpPr>
            <p:nvPr/>
          </p:nvSpPr>
          <p:spPr bwMode="auto">
            <a:xfrm>
              <a:off x="1623271" y="2614121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Text Box 81"/>
            <p:cNvSpPr txBox="1">
              <a:spLocks noChangeArrowheads="1"/>
            </p:cNvSpPr>
            <p:nvPr/>
          </p:nvSpPr>
          <p:spPr bwMode="auto">
            <a:xfrm>
              <a:off x="5350256" y="2603367"/>
              <a:ext cx="906780" cy="2528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46 ~ 1500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0" name="Group 109"/>
            <p:cNvGrpSpPr/>
            <p:nvPr/>
          </p:nvGrpSpPr>
          <p:grpSpPr bwMode="auto">
            <a:xfrm>
              <a:off x="4102635" y="2291106"/>
              <a:ext cx="2311976" cy="676676"/>
              <a:chOff x="2715" y="1872"/>
              <a:chExt cx="1968" cy="624"/>
            </a:xfrm>
          </p:grpSpPr>
          <p:sp>
            <p:nvSpPr>
              <p:cNvPr id="51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3508" y="2231"/>
                <a:ext cx="384" cy="145"/>
              </a:xfrm>
              <a:prstGeom prst="rightArrow">
                <a:avLst>
                  <a:gd name="adj1" fmla="val 50000"/>
                  <a:gd name="adj2" fmla="val 132426"/>
                </a:avLst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65" b="1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2" name="Rectangle 111"/>
              <p:cNvSpPr>
                <a:spLocks noChangeArrowheads="1"/>
              </p:cNvSpPr>
              <p:nvPr/>
            </p:nvSpPr>
            <p:spPr bwMode="auto">
              <a:xfrm>
                <a:off x="2715" y="1872"/>
                <a:ext cx="1968" cy="240"/>
              </a:xfrm>
              <a:prstGeom prst="rect">
                <a:avLst/>
              </a:prstGeom>
              <a:solidFill>
                <a:srgbClr val="0000CC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defTabSz="762000" eaLnBrk="0" hangingPunct="0"/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IP </a:t>
                </a: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数据报</a:t>
                </a:r>
                <a:endParaRPr kumimoji="1"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3" name="AutoShape 38"/>
            <p:cNvSpPr>
              <a:spLocks noChangeArrowheads="1"/>
            </p:cNvSpPr>
            <p:nvPr/>
          </p:nvSpPr>
          <p:spPr bwMode="auto">
            <a:xfrm>
              <a:off x="3142535" y="1600352"/>
              <a:ext cx="1972251" cy="375516"/>
            </a:xfrm>
            <a:prstGeom prst="wedgeRoundRectCallout">
              <a:avLst>
                <a:gd name="adj1" fmla="val -47166"/>
                <a:gd name="adj2" fmla="val 292307"/>
                <a:gd name="adj3" fmla="val 16667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/>
            <a:lstStyle/>
            <a:p>
              <a:pPr algn="ctr"/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源地址字段 </a:t>
              </a:r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6 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lang="zh-CN" altLang="en-US" sz="2135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5" name="AutoShape 5"/>
          <p:cNvSpPr>
            <a:spLocks noChangeArrowheads="1"/>
          </p:cNvSpPr>
          <p:nvPr/>
        </p:nvSpPr>
        <p:spPr bwMode="auto">
          <a:xfrm>
            <a:off x="670561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3970118" y="781253"/>
            <a:ext cx="42386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圆角矩形 40"/>
          <p:cNvSpPr/>
          <p:nvPr/>
        </p:nvSpPr>
        <p:spPr>
          <a:xfrm>
            <a:off x="670560" y="1345552"/>
            <a:ext cx="10838687" cy="43769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67832" y="2341439"/>
            <a:ext cx="8796787" cy="2963316"/>
            <a:chOff x="1025874" y="1600352"/>
            <a:chExt cx="6597590" cy="2222487"/>
          </a:xfrm>
        </p:grpSpPr>
        <p:sp>
          <p:nvSpPr>
            <p:cNvPr id="44" name="Line 3"/>
            <p:cNvSpPr>
              <a:spLocks noChangeShapeType="1"/>
            </p:cNvSpPr>
            <p:nvPr/>
          </p:nvSpPr>
          <p:spPr bwMode="auto">
            <a:xfrm>
              <a:off x="1025874" y="3332145"/>
              <a:ext cx="6597590" cy="0"/>
            </a:xfrm>
            <a:prstGeom prst="line">
              <a:avLst/>
            </a:prstGeom>
            <a:noFill/>
            <a:ln w="25400" cmpd="sng">
              <a:solidFill>
                <a:srgbClr val="0000CC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Rectangle 4"/>
            <p:cNvSpPr>
              <a:spLocks noChangeArrowheads="1"/>
            </p:cNvSpPr>
            <p:nvPr/>
          </p:nvSpPr>
          <p:spPr bwMode="auto">
            <a:xfrm>
              <a:off x="2063209" y="3484501"/>
              <a:ext cx="4746129" cy="338338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Rectangle 6"/>
            <p:cNvSpPr>
              <a:spLocks noChangeArrowheads="1"/>
            </p:cNvSpPr>
            <p:nvPr/>
          </p:nvSpPr>
          <p:spPr bwMode="auto">
            <a:xfrm>
              <a:off x="3849543" y="3530798"/>
              <a:ext cx="1252061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以太网 </a:t>
              </a:r>
              <a:r>
                <a:rPr kumimoji="1" lang="en-US" altLang="zh-CN" sz="1600" b="1" dirty="0"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帧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6889224" y="353794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物理层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Rectangle 26"/>
            <p:cNvSpPr>
              <a:spLocks noChangeArrowheads="1"/>
            </p:cNvSpPr>
            <p:nvPr/>
          </p:nvSpPr>
          <p:spPr bwMode="auto">
            <a:xfrm>
              <a:off x="6859854" y="2898379"/>
              <a:ext cx="749618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Line 27"/>
            <p:cNvSpPr>
              <a:spLocks noChangeShapeType="1"/>
            </p:cNvSpPr>
            <p:nvPr/>
          </p:nvSpPr>
          <p:spPr bwMode="auto">
            <a:xfrm flipH="1">
              <a:off x="2057335" y="3144542"/>
              <a:ext cx="1175" cy="35135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Line 28"/>
            <p:cNvSpPr>
              <a:spLocks noChangeShapeType="1"/>
            </p:cNvSpPr>
            <p:nvPr/>
          </p:nvSpPr>
          <p:spPr bwMode="auto">
            <a:xfrm>
              <a:off x="6801115" y="3193340"/>
              <a:ext cx="8224" cy="29496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Rectangle 47"/>
            <p:cNvSpPr>
              <a:spLocks noChangeArrowheads="1"/>
            </p:cNvSpPr>
            <p:nvPr/>
          </p:nvSpPr>
          <p:spPr bwMode="auto">
            <a:xfrm>
              <a:off x="6966760" y="2291106"/>
              <a:ext cx="529590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IP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 flipV="1">
              <a:off x="6853980" y="2655469"/>
              <a:ext cx="648644" cy="0"/>
            </a:xfrm>
            <a:prstGeom prst="line">
              <a:avLst/>
            </a:prstGeom>
            <a:noFill/>
            <a:ln w="25400" cmpd="sng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AutoShape 64"/>
            <p:cNvSpPr>
              <a:spLocks noChangeArrowheads="1"/>
            </p:cNvSpPr>
            <p:nvPr/>
          </p:nvSpPr>
          <p:spPr bwMode="auto">
            <a:xfrm rot="16200000" flipH="1">
              <a:off x="4254498" y="3277080"/>
              <a:ext cx="416416" cy="170343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Rectangle 66"/>
            <p:cNvSpPr>
              <a:spLocks noChangeArrowheads="1"/>
            </p:cNvSpPr>
            <p:nvPr/>
          </p:nvSpPr>
          <p:spPr bwMode="auto">
            <a:xfrm>
              <a:off x="2057335" y="2849580"/>
              <a:ext cx="4752004" cy="312312"/>
            </a:xfrm>
            <a:prstGeom prst="rect">
              <a:avLst/>
            </a:prstGeom>
            <a:solidFill>
              <a:srgbClr val="00FF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Line 67"/>
            <p:cNvSpPr>
              <a:spLocks noChangeShapeType="1"/>
            </p:cNvSpPr>
            <p:nvPr/>
          </p:nvSpPr>
          <p:spPr bwMode="auto">
            <a:xfrm>
              <a:off x="2749283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Line 68"/>
            <p:cNvSpPr>
              <a:spLocks noChangeShapeType="1"/>
            </p:cNvSpPr>
            <p:nvPr/>
          </p:nvSpPr>
          <p:spPr bwMode="auto">
            <a:xfrm>
              <a:off x="3425959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9" name="Line 69"/>
            <p:cNvSpPr>
              <a:spLocks noChangeShapeType="1"/>
            </p:cNvSpPr>
            <p:nvPr/>
          </p:nvSpPr>
          <p:spPr bwMode="auto">
            <a:xfrm>
              <a:off x="4102635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Line 70"/>
            <p:cNvSpPr>
              <a:spLocks noChangeShapeType="1"/>
            </p:cNvSpPr>
            <p:nvPr/>
          </p:nvSpPr>
          <p:spPr bwMode="auto">
            <a:xfrm>
              <a:off x="6414611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Rectangle 71"/>
            <p:cNvSpPr>
              <a:spLocks noChangeArrowheads="1"/>
            </p:cNvSpPr>
            <p:nvPr/>
          </p:nvSpPr>
          <p:spPr bwMode="auto">
            <a:xfrm>
              <a:off x="2005645" y="2881028"/>
              <a:ext cx="7905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目的地址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Rectangle 72"/>
            <p:cNvSpPr>
              <a:spLocks noChangeArrowheads="1"/>
            </p:cNvSpPr>
            <p:nvPr/>
          </p:nvSpPr>
          <p:spPr bwMode="auto">
            <a:xfrm>
              <a:off x="2788208" y="288102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源地址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Rectangle 73"/>
            <p:cNvSpPr>
              <a:spLocks noChangeArrowheads="1"/>
            </p:cNvSpPr>
            <p:nvPr/>
          </p:nvSpPr>
          <p:spPr bwMode="auto">
            <a:xfrm>
              <a:off x="3527499" y="2881028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类型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Rectangle 74"/>
            <p:cNvSpPr>
              <a:spLocks noChangeArrowheads="1"/>
            </p:cNvSpPr>
            <p:nvPr/>
          </p:nvSpPr>
          <p:spPr bwMode="auto">
            <a:xfrm>
              <a:off x="4841260" y="2881028"/>
              <a:ext cx="84772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数        据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Rectangle 75"/>
            <p:cNvSpPr>
              <a:spLocks noChangeArrowheads="1"/>
            </p:cNvSpPr>
            <p:nvPr/>
          </p:nvSpPr>
          <p:spPr bwMode="auto">
            <a:xfrm>
              <a:off x="6374669" y="2881028"/>
              <a:ext cx="460534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FCS</a:t>
              </a:r>
              <a:endParaRPr kumimoji="1"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Rectangle 76"/>
            <p:cNvSpPr>
              <a:spLocks noChangeArrowheads="1"/>
            </p:cNvSpPr>
            <p:nvPr/>
          </p:nvSpPr>
          <p:spPr bwMode="auto">
            <a:xfrm>
              <a:off x="2287182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7" name="Rectangle 77"/>
            <p:cNvSpPr>
              <a:spLocks noChangeArrowheads="1"/>
            </p:cNvSpPr>
            <p:nvPr/>
          </p:nvSpPr>
          <p:spPr bwMode="auto">
            <a:xfrm>
              <a:off x="2984591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Rectangle 78"/>
            <p:cNvSpPr>
              <a:spLocks noChangeArrowheads="1"/>
            </p:cNvSpPr>
            <p:nvPr/>
          </p:nvSpPr>
          <p:spPr bwMode="auto">
            <a:xfrm>
              <a:off x="37079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Rectangle 79"/>
            <p:cNvSpPr>
              <a:spLocks noChangeArrowheads="1"/>
            </p:cNvSpPr>
            <p:nvPr/>
          </p:nvSpPr>
          <p:spPr bwMode="auto">
            <a:xfrm>
              <a:off x="64687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Rectangle 80"/>
            <p:cNvSpPr>
              <a:spLocks noChangeArrowheads="1"/>
            </p:cNvSpPr>
            <p:nvPr/>
          </p:nvSpPr>
          <p:spPr bwMode="auto">
            <a:xfrm>
              <a:off x="1623271" y="2614121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Text Box 81"/>
            <p:cNvSpPr txBox="1">
              <a:spLocks noChangeArrowheads="1"/>
            </p:cNvSpPr>
            <p:nvPr/>
          </p:nvSpPr>
          <p:spPr bwMode="auto">
            <a:xfrm>
              <a:off x="5350256" y="2603367"/>
              <a:ext cx="906780" cy="2528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46 ~ 1500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74" name="Group 109"/>
            <p:cNvGrpSpPr/>
            <p:nvPr/>
          </p:nvGrpSpPr>
          <p:grpSpPr bwMode="auto">
            <a:xfrm>
              <a:off x="4102635" y="2291106"/>
              <a:ext cx="2311976" cy="676676"/>
              <a:chOff x="2715" y="1872"/>
              <a:chExt cx="1968" cy="624"/>
            </a:xfrm>
          </p:grpSpPr>
          <p:sp>
            <p:nvSpPr>
              <p:cNvPr id="75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3508" y="2231"/>
                <a:ext cx="384" cy="145"/>
              </a:xfrm>
              <a:prstGeom prst="rightArrow">
                <a:avLst>
                  <a:gd name="adj1" fmla="val 50000"/>
                  <a:gd name="adj2" fmla="val 132426"/>
                </a:avLst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65" b="1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6" name="Rectangle 111"/>
              <p:cNvSpPr>
                <a:spLocks noChangeArrowheads="1"/>
              </p:cNvSpPr>
              <p:nvPr/>
            </p:nvSpPr>
            <p:spPr bwMode="auto">
              <a:xfrm>
                <a:off x="2715" y="1872"/>
                <a:ext cx="1968" cy="240"/>
              </a:xfrm>
              <a:prstGeom prst="rect">
                <a:avLst/>
              </a:prstGeom>
              <a:solidFill>
                <a:srgbClr val="0000CC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defTabSz="762000" eaLnBrk="0" hangingPunct="0"/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IP </a:t>
                </a: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数据报</a:t>
                </a:r>
                <a:endParaRPr kumimoji="1"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77" name="AutoShape 38"/>
            <p:cNvSpPr>
              <a:spLocks noChangeArrowheads="1"/>
            </p:cNvSpPr>
            <p:nvPr/>
          </p:nvSpPr>
          <p:spPr bwMode="auto">
            <a:xfrm>
              <a:off x="2948954" y="1600352"/>
              <a:ext cx="1795225" cy="375516"/>
            </a:xfrm>
            <a:prstGeom prst="wedgeRoundRectCallout">
              <a:avLst>
                <a:gd name="adj1" fmla="val -8750"/>
                <a:gd name="adj2" fmla="val 292307"/>
                <a:gd name="adj3" fmla="val 16667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/>
            <a:lstStyle/>
            <a:p>
              <a:pPr algn="ctr"/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类型字段 </a:t>
              </a:r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2 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lang="zh-CN" altLang="en-US" sz="2135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2346775" y="1449900"/>
            <a:ext cx="7420631" cy="749300"/>
          </a:xfrm>
          <a:prstGeom prst="rect">
            <a:avLst/>
          </a:prstGeom>
          <a:solidFill>
            <a:srgbClr val="0000CC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类型字段用来标志</a:t>
            </a:r>
            <a:r>
              <a:rPr lang="zh-CN" altLang="en-US" sz="2135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上一层</a:t>
            </a:r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使用的是什么协议，</a:t>
            </a:r>
            <a:endParaRPr lang="zh-CN" altLang="en-US" sz="213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以便把收到的 </a:t>
            </a:r>
            <a:r>
              <a:rPr lang="en-US" altLang="zh-CN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帧的数据上交给上一层的这个协议。 </a:t>
            </a:r>
            <a:endParaRPr lang="zh-CN" altLang="en-US" sz="213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670561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3970118" y="781253"/>
            <a:ext cx="42386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圆角矩形 37"/>
          <p:cNvSpPr/>
          <p:nvPr/>
        </p:nvSpPr>
        <p:spPr>
          <a:xfrm>
            <a:off x="670560" y="1345552"/>
            <a:ext cx="10838687" cy="43769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auto">
          <a:xfrm>
            <a:off x="670560" y="804123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5" name="矩形 44"/>
          <p:cNvSpPr/>
          <p:nvPr/>
        </p:nvSpPr>
        <p:spPr>
          <a:xfrm>
            <a:off x="821447" y="747803"/>
            <a:ext cx="423862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367832" y="2341439"/>
            <a:ext cx="8796787" cy="2963316"/>
            <a:chOff x="1025874" y="1600352"/>
            <a:chExt cx="6597590" cy="2222487"/>
          </a:xfrm>
        </p:grpSpPr>
        <p:sp>
          <p:nvSpPr>
            <p:cNvPr id="10" name="Line 3"/>
            <p:cNvSpPr>
              <a:spLocks noChangeShapeType="1"/>
            </p:cNvSpPr>
            <p:nvPr/>
          </p:nvSpPr>
          <p:spPr bwMode="auto">
            <a:xfrm>
              <a:off x="1025874" y="3332145"/>
              <a:ext cx="6597590" cy="0"/>
            </a:xfrm>
            <a:prstGeom prst="line">
              <a:avLst/>
            </a:prstGeom>
            <a:noFill/>
            <a:ln w="25400" cmpd="sng">
              <a:solidFill>
                <a:srgbClr val="0000CC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2063209" y="3484501"/>
              <a:ext cx="4746129" cy="338338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3847707" y="3530798"/>
              <a:ext cx="1252061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以太网 </a:t>
              </a:r>
              <a:r>
                <a:rPr kumimoji="1" lang="en-US" altLang="zh-CN" sz="1600" b="1" dirty="0"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帧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6889224" y="353794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物理层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6859854" y="2898379"/>
              <a:ext cx="749618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Line 27"/>
            <p:cNvSpPr>
              <a:spLocks noChangeShapeType="1"/>
            </p:cNvSpPr>
            <p:nvPr/>
          </p:nvSpPr>
          <p:spPr bwMode="auto">
            <a:xfrm flipH="1">
              <a:off x="2057335" y="3144542"/>
              <a:ext cx="1175" cy="35135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Line 28"/>
            <p:cNvSpPr>
              <a:spLocks noChangeShapeType="1"/>
            </p:cNvSpPr>
            <p:nvPr/>
          </p:nvSpPr>
          <p:spPr bwMode="auto">
            <a:xfrm>
              <a:off x="6801115" y="3193340"/>
              <a:ext cx="8224" cy="29496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Rectangle 47"/>
            <p:cNvSpPr>
              <a:spLocks noChangeArrowheads="1"/>
            </p:cNvSpPr>
            <p:nvPr/>
          </p:nvSpPr>
          <p:spPr bwMode="auto">
            <a:xfrm>
              <a:off x="6966760" y="2291106"/>
              <a:ext cx="529590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IP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Line 48"/>
            <p:cNvSpPr>
              <a:spLocks noChangeShapeType="1"/>
            </p:cNvSpPr>
            <p:nvPr/>
          </p:nvSpPr>
          <p:spPr bwMode="auto">
            <a:xfrm flipV="1">
              <a:off x="6853980" y="2655469"/>
              <a:ext cx="648644" cy="0"/>
            </a:xfrm>
            <a:prstGeom prst="line">
              <a:avLst/>
            </a:prstGeom>
            <a:noFill/>
            <a:ln w="25400" cmpd="sng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AutoShape 64"/>
            <p:cNvSpPr>
              <a:spLocks noChangeArrowheads="1"/>
            </p:cNvSpPr>
            <p:nvPr/>
          </p:nvSpPr>
          <p:spPr bwMode="auto">
            <a:xfrm rot="16200000" flipH="1">
              <a:off x="4254498" y="3277080"/>
              <a:ext cx="416416" cy="170343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Rectangle 66"/>
            <p:cNvSpPr>
              <a:spLocks noChangeArrowheads="1"/>
            </p:cNvSpPr>
            <p:nvPr/>
          </p:nvSpPr>
          <p:spPr bwMode="auto">
            <a:xfrm>
              <a:off x="2057335" y="2849580"/>
              <a:ext cx="4752004" cy="312312"/>
            </a:xfrm>
            <a:prstGeom prst="rect">
              <a:avLst/>
            </a:prstGeom>
            <a:solidFill>
              <a:srgbClr val="00FF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Line 67"/>
            <p:cNvSpPr>
              <a:spLocks noChangeShapeType="1"/>
            </p:cNvSpPr>
            <p:nvPr/>
          </p:nvSpPr>
          <p:spPr bwMode="auto">
            <a:xfrm>
              <a:off x="2749283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Line 68"/>
            <p:cNvSpPr>
              <a:spLocks noChangeShapeType="1"/>
            </p:cNvSpPr>
            <p:nvPr/>
          </p:nvSpPr>
          <p:spPr bwMode="auto">
            <a:xfrm>
              <a:off x="3425959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Line 69"/>
            <p:cNvSpPr>
              <a:spLocks noChangeShapeType="1"/>
            </p:cNvSpPr>
            <p:nvPr/>
          </p:nvSpPr>
          <p:spPr bwMode="auto">
            <a:xfrm>
              <a:off x="4102635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Line 70"/>
            <p:cNvSpPr>
              <a:spLocks noChangeShapeType="1"/>
            </p:cNvSpPr>
            <p:nvPr/>
          </p:nvSpPr>
          <p:spPr bwMode="auto">
            <a:xfrm>
              <a:off x="6414611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Rectangle 71"/>
            <p:cNvSpPr>
              <a:spLocks noChangeArrowheads="1"/>
            </p:cNvSpPr>
            <p:nvPr/>
          </p:nvSpPr>
          <p:spPr bwMode="auto">
            <a:xfrm>
              <a:off x="2005645" y="2881028"/>
              <a:ext cx="7905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目的地址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Rectangle 72"/>
            <p:cNvSpPr>
              <a:spLocks noChangeArrowheads="1"/>
            </p:cNvSpPr>
            <p:nvPr/>
          </p:nvSpPr>
          <p:spPr bwMode="auto">
            <a:xfrm>
              <a:off x="2788208" y="288102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源地址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Rectangle 73"/>
            <p:cNvSpPr>
              <a:spLocks noChangeArrowheads="1"/>
            </p:cNvSpPr>
            <p:nvPr/>
          </p:nvSpPr>
          <p:spPr bwMode="auto">
            <a:xfrm>
              <a:off x="3527499" y="2881028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类型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Rectangle 74"/>
            <p:cNvSpPr>
              <a:spLocks noChangeArrowheads="1"/>
            </p:cNvSpPr>
            <p:nvPr/>
          </p:nvSpPr>
          <p:spPr bwMode="auto">
            <a:xfrm>
              <a:off x="4841260" y="2881028"/>
              <a:ext cx="84772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数        据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Rectangle 75"/>
            <p:cNvSpPr>
              <a:spLocks noChangeArrowheads="1"/>
            </p:cNvSpPr>
            <p:nvPr/>
          </p:nvSpPr>
          <p:spPr bwMode="auto">
            <a:xfrm>
              <a:off x="6374669" y="2881028"/>
              <a:ext cx="460534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FCS</a:t>
              </a:r>
              <a:endParaRPr kumimoji="1"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Rectangle 76"/>
            <p:cNvSpPr>
              <a:spLocks noChangeArrowheads="1"/>
            </p:cNvSpPr>
            <p:nvPr/>
          </p:nvSpPr>
          <p:spPr bwMode="auto">
            <a:xfrm>
              <a:off x="2287182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Rectangle 77"/>
            <p:cNvSpPr>
              <a:spLocks noChangeArrowheads="1"/>
            </p:cNvSpPr>
            <p:nvPr/>
          </p:nvSpPr>
          <p:spPr bwMode="auto">
            <a:xfrm>
              <a:off x="2984591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Rectangle 78"/>
            <p:cNvSpPr>
              <a:spLocks noChangeArrowheads="1"/>
            </p:cNvSpPr>
            <p:nvPr/>
          </p:nvSpPr>
          <p:spPr bwMode="auto">
            <a:xfrm>
              <a:off x="37079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Rectangle 79"/>
            <p:cNvSpPr>
              <a:spLocks noChangeArrowheads="1"/>
            </p:cNvSpPr>
            <p:nvPr/>
          </p:nvSpPr>
          <p:spPr bwMode="auto">
            <a:xfrm>
              <a:off x="64687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Rectangle 80"/>
            <p:cNvSpPr>
              <a:spLocks noChangeArrowheads="1"/>
            </p:cNvSpPr>
            <p:nvPr/>
          </p:nvSpPr>
          <p:spPr bwMode="auto">
            <a:xfrm>
              <a:off x="1623271" y="2614121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Text Box 81"/>
            <p:cNvSpPr txBox="1">
              <a:spLocks noChangeArrowheads="1"/>
            </p:cNvSpPr>
            <p:nvPr/>
          </p:nvSpPr>
          <p:spPr bwMode="auto">
            <a:xfrm>
              <a:off x="5350256" y="2603367"/>
              <a:ext cx="906780" cy="2528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46 ~ 1500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40" name="Group 109"/>
            <p:cNvGrpSpPr/>
            <p:nvPr/>
          </p:nvGrpSpPr>
          <p:grpSpPr bwMode="auto">
            <a:xfrm>
              <a:off x="4102635" y="2291106"/>
              <a:ext cx="2311976" cy="676676"/>
              <a:chOff x="2715" y="1872"/>
              <a:chExt cx="1968" cy="624"/>
            </a:xfrm>
          </p:grpSpPr>
          <p:sp>
            <p:nvSpPr>
              <p:cNvPr id="41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3508" y="2231"/>
                <a:ext cx="384" cy="145"/>
              </a:xfrm>
              <a:prstGeom prst="rightArrow">
                <a:avLst>
                  <a:gd name="adj1" fmla="val 50000"/>
                  <a:gd name="adj2" fmla="val 132426"/>
                </a:avLst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65" b="1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2" name="Rectangle 111"/>
              <p:cNvSpPr>
                <a:spLocks noChangeArrowheads="1"/>
              </p:cNvSpPr>
              <p:nvPr/>
            </p:nvSpPr>
            <p:spPr bwMode="auto">
              <a:xfrm>
                <a:off x="2715" y="1872"/>
                <a:ext cx="1968" cy="240"/>
              </a:xfrm>
              <a:prstGeom prst="rect">
                <a:avLst/>
              </a:prstGeom>
              <a:solidFill>
                <a:srgbClr val="0000CC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defTabSz="762000" eaLnBrk="0" hangingPunct="0"/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IP </a:t>
                </a: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数据报</a:t>
                </a:r>
                <a:endParaRPr kumimoji="1"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43" name="AutoShape 38"/>
            <p:cNvSpPr>
              <a:spLocks noChangeArrowheads="1"/>
            </p:cNvSpPr>
            <p:nvPr/>
          </p:nvSpPr>
          <p:spPr bwMode="auto">
            <a:xfrm>
              <a:off x="3608839" y="1600352"/>
              <a:ext cx="2674606" cy="375516"/>
            </a:xfrm>
            <a:prstGeom prst="wedgeRoundRectCallout">
              <a:avLst>
                <a:gd name="adj1" fmla="val -7724"/>
                <a:gd name="adj2" fmla="val 314223"/>
                <a:gd name="adj3" fmla="val 16667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/>
            <a:lstStyle/>
            <a:p>
              <a:pPr algn="ctr"/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数据字段 </a:t>
              </a:r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46 ~ 1500 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lang="zh-CN" altLang="en-US" sz="2135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0" name="矩形 79"/>
          <p:cNvSpPr/>
          <p:nvPr/>
        </p:nvSpPr>
        <p:spPr>
          <a:xfrm>
            <a:off x="1367832" y="1437705"/>
            <a:ext cx="9503368" cy="749300"/>
          </a:xfrm>
          <a:prstGeom prst="rect">
            <a:avLst/>
          </a:prstGeom>
          <a:solidFill>
            <a:srgbClr val="0000CC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数据字段的正式名称是 </a:t>
            </a:r>
            <a:r>
              <a:rPr lang="en-US" altLang="zh-CN" sz="2135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135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客户数据字段。</a:t>
            </a:r>
            <a:endParaRPr lang="zh-CN" altLang="en-US" sz="2135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最小长度 </a:t>
            </a:r>
            <a:r>
              <a:rPr lang="en-US" altLang="zh-CN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64 </a:t>
            </a:r>
            <a:r>
              <a:rPr lang="zh-CN" altLang="en-US" sz="21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字节 </a:t>
            </a:r>
            <a:r>
              <a:rPr lang="en-US" altLang="zh-CN" sz="21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- 18 </a:t>
            </a:r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字节的首部和</a:t>
            </a:r>
            <a:r>
              <a:rPr lang="zh-CN" altLang="en-US" sz="21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尾部 </a:t>
            </a:r>
            <a:r>
              <a:rPr lang="en-US" altLang="zh-CN" sz="21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= </a:t>
            </a:r>
            <a:r>
              <a:rPr lang="zh-CN" altLang="en-US" sz="21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字段的最小长度（</a:t>
            </a:r>
            <a:r>
              <a:rPr lang="en-US" altLang="zh-CN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46</a:t>
            </a:r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字节） </a:t>
            </a:r>
            <a:endParaRPr lang="zh-CN" altLang="en-US" sz="213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AutoShape 5"/>
          <p:cNvSpPr>
            <a:spLocks noChangeArrowheads="1"/>
          </p:cNvSpPr>
          <p:nvPr/>
        </p:nvSpPr>
        <p:spPr bwMode="auto">
          <a:xfrm>
            <a:off x="670561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3970118" y="781253"/>
            <a:ext cx="42386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/>
        </p:nvSpPr>
        <p:spPr>
          <a:xfrm>
            <a:off x="670560" y="1345552"/>
            <a:ext cx="10838687" cy="43769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67832" y="2039623"/>
            <a:ext cx="8796787" cy="2743860"/>
            <a:chOff x="1025874" y="1764944"/>
            <a:chExt cx="6597590" cy="2057895"/>
          </a:xfrm>
        </p:grpSpPr>
        <p:sp>
          <p:nvSpPr>
            <p:cNvPr id="19" name="Line 3"/>
            <p:cNvSpPr>
              <a:spLocks noChangeShapeType="1"/>
            </p:cNvSpPr>
            <p:nvPr/>
          </p:nvSpPr>
          <p:spPr bwMode="auto">
            <a:xfrm>
              <a:off x="1025874" y="3332145"/>
              <a:ext cx="6597590" cy="0"/>
            </a:xfrm>
            <a:prstGeom prst="line">
              <a:avLst/>
            </a:prstGeom>
            <a:noFill/>
            <a:ln w="25400" cmpd="sng">
              <a:solidFill>
                <a:srgbClr val="0000CC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2063209" y="3484501"/>
              <a:ext cx="4746129" cy="338338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3839033" y="3530798"/>
              <a:ext cx="1252061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以太网 </a:t>
              </a:r>
              <a:r>
                <a:rPr kumimoji="1" lang="en-US" altLang="zh-CN" sz="1600" b="1" dirty="0"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帧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Rectangle 13"/>
            <p:cNvSpPr>
              <a:spLocks noChangeArrowheads="1"/>
            </p:cNvSpPr>
            <p:nvPr/>
          </p:nvSpPr>
          <p:spPr bwMode="auto">
            <a:xfrm>
              <a:off x="6889224" y="353794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物理层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Rectangle 26"/>
            <p:cNvSpPr>
              <a:spLocks noChangeArrowheads="1"/>
            </p:cNvSpPr>
            <p:nvPr/>
          </p:nvSpPr>
          <p:spPr bwMode="auto">
            <a:xfrm>
              <a:off x="6859854" y="2898379"/>
              <a:ext cx="749618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MAC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 flipH="1">
              <a:off x="2057335" y="3144542"/>
              <a:ext cx="1175" cy="35135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>
              <a:off x="6801115" y="3193340"/>
              <a:ext cx="8224" cy="29496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Rectangle 47"/>
            <p:cNvSpPr>
              <a:spLocks noChangeArrowheads="1"/>
            </p:cNvSpPr>
            <p:nvPr/>
          </p:nvSpPr>
          <p:spPr bwMode="auto">
            <a:xfrm>
              <a:off x="6966760" y="2291106"/>
              <a:ext cx="529590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IP </a:t>
              </a:r>
              <a:r>
                <a:rPr kumimoji="1" lang="zh-CN" altLang="en-US" sz="1600" b="1" dirty="0" smtClean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Line 48"/>
            <p:cNvSpPr>
              <a:spLocks noChangeShapeType="1"/>
            </p:cNvSpPr>
            <p:nvPr/>
          </p:nvSpPr>
          <p:spPr bwMode="auto">
            <a:xfrm flipV="1">
              <a:off x="6853980" y="2655469"/>
              <a:ext cx="648644" cy="0"/>
            </a:xfrm>
            <a:prstGeom prst="line">
              <a:avLst/>
            </a:prstGeom>
            <a:noFill/>
            <a:ln w="25400" cmpd="sng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AutoShape 64"/>
            <p:cNvSpPr>
              <a:spLocks noChangeArrowheads="1"/>
            </p:cNvSpPr>
            <p:nvPr/>
          </p:nvSpPr>
          <p:spPr bwMode="auto">
            <a:xfrm rot="16200000" flipH="1">
              <a:off x="4254498" y="3277080"/>
              <a:ext cx="416416" cy="170343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Rectangle 66"/>
            <p:cNvSpPr>
              <a:spLocks noChangeArrowheads="1"/>
            </p:cNvSpPr>
            <p:nvPr/>
          </p:nvSpPr>
          <p:spPr bwMode="auto">
            <a:xfrm>
              <a:off x="2057335" y="2849580"/>
              <a:ext cx="4752004" cy="312312"/>
            </a:xfrm>
            <a:prstGeom prst="rect">
              <a:avLst/>
            </a:prstGeom>
            <a:solidFill>
              <a:srgbClr val="00FF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Line 67"/>
            <p:cNvSpPr>
              <a:spLocks noChangeShapeType="1"/>
            </p:cNvSpPr>
            <p:nvPr/>
          </p:nvSpPr>
          <p:spPr bwMode="auto">
            <a:xfrm>
              <a:off x="2749283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Line 68"/>
            <p:cNvSpPr>
              <a:spLocks noChangeShapeType="1"/>
            </p:cNvSpPr>
            <p:nvPr/>
          </p:nvSpPr>
          <p:spPr bwMode="auto">
            <a:xfrm>
              <a:off x="3425959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Line 69"/>
            <p:cNvSpPr>
              <a:spLocks noChangeShapeType="1"/>
            </p:cNvSpPr>
            <p:nvPr/>
          </p:nvSpPr>
          <p:spPr bwMode="auto">
            <a:xfrm>
              <a:off x="4102635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Line 70"/>
            <p:cNvSpPr>
              <a:spLocks noChangeShapeType="1"/>
            </p:cNvSpPr>
            <p:nvPr/>
          </p:nvSpPr>
          <p:spPr bwMode="auto">
            <a:xfrm>
              <a:off x="6414611" y="2849580"/>
              <a:ext cx="0" cy="312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Rectangle 71"/>
            <p:cNvSpPr>
              <a:spLocks noChangeArrowheads="1"/>
            </p:cNvSpPr>
            <p:nvPr/>
          </p:nvSpPr>
          <p:spPr bwMode="auto">
            <a:xfrm>
              <a:off x="2005645" y="2881028"/>
              <a:ext cx="7905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目的地址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Rectangle 72"/>
            <p:cNvSpPr>
              <a:spLocks noChangeArrowheads="1"/>
            </p:cNvSpPr>
            <p:nvPr/>
          </p:nvSpPr>
          <p:spPr bwMode="auto">
            <a:xfrm>
              <a:off x="2788208" y="2881028"/>
              <a:ext cx="6381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源地址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Rectangle 73"/>
            <p:cNvSpPr>
              <a:spLocks noChangeArrowheads="1"/>
            </p:cNvSpPr>
            <p:nvPr/>
          </p:nvSpPr>
          <p:spPr bwMode="auto">
            <a:xfrm>
              <a:off x="3527499" y="2881028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类型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Rectangle 74"/>
            <p:cNvSpPr>
              <a:spLocks noChangeArrowheads="1"/>
            </p:cNvSpPr>
            <p:nvPr/>
          </p:nvSpPr>
          <p:spPr bwMode="auto">
            <a:xfrm>
              <a:off x="4841260" y="2881028"/>
              <a:ext cx="84772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数        据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Rectangle 75"/>
            <p:cNvSpPr>
              <a:spLocks noChangeArrowheads="1"/>
            </p:cNvSpPr>
            <p:nvPr/>
          </p:nvSpPr>
          <p:spPr bwMode="auto">
            <a:xfrm>
              <a:off x="6374669" y="2881028"/>
              <a:ext cx="460534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>
                  <a:latin typeface="微软雅黑" panose="020B0503020204020204" charset="-122"/>
                  <a:ea typeface="微软雅黑" panose="020B0503020204020204" charset="-122"/>
                </a:rPr>
                <a:t>FCS</a:t>
              </a:r>
              <a:endParaRPr kumimoji="1" lang="en-US" altLang="zh-CN" sz="16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Rectangle 76"/>
            <p:cNvSpPr>
              <a:spLocks noChangeArrowheads="1"/>
            </p:cNvSpPr>
            <p:nvPr/>
          </p:nvSpPr>
          <p:spPr bwMode="auto">
            <a:xfrm>
              <a:off x="2287182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Rectangle 77"/>
            <p:cNvSpPr>
              <a:spLocks noChangeArrowheads="1"/>
            </p:cNvSpPr>
            <p:nvPr/>
          </p:nvSpPr>
          <p:spPr bwMode="auto">
            <a:xfrm>
              <a:off x="2984591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Rectangle 78"/>
            <p:cNvSpPr>
              <a:spLocks noChangeArrowheads="1"/>
            </p:cNvSpPr>
            <p:nvPr/>
          </p:nvSpPr>
          <p:spPr bwMode="auto">
            <a:xfrm>
              <a:off x="37079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Rectangle 79"/>
            <p:cNvSpPr>
              <a:spLocks noChangeArrowheads="1"/>
            </p:cNvSpPr>
            <p:nvPr/>
          </p:nvSpPr>
          <p:spPr bwMode="auto">
            <a:xfrm>
              <a:off x="6468707" y="2626141"/>
              <a:ext cx="274796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Rectangle 80"/>
            <p:cNvSpPr>
              <a:spLocks noChangeArrowheads="1"/>
            </p:cNvSpPr>
            <p:nvPr/>
          </p:nvSpPr>
          <p:spPr bwMode="auto">
            <a:xfrm>
              <a:off x="1623271" y="2614121"/>
              <a:ext cx="48577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0650" tIns="59266" rIns="120650" bIns="59266">
              <a:spAutoFit/>
            </a:bodyPr>
            <a:lstStyle/>
            <a:p>
              <a:pPr defTabSz="762000" eaLnBrk="0" hangingPunct="0"/>
              <a:r>
                <a: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Text Box 81"/>
            <p:cNvSpPr txBox="1">
              <a:spLocks noChangeArrowheads="1"/>
            </p:cNvSpPr>
            <p:nvPr/>
          </p:nvSpPr>
          <p:spPr bwMode="auto">
            <a:xfrm>
              <a:off x="5350256" y="2603367"/>
              <a:ext cx="906780" cy="2528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rPr>
                <a:t>46 ~ 1500</a:t>
              </a:r>
              <a:endPara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49" name="Group 109"/>
            <p:cNvGrpSpPr/>
            <p:nvPr/>
          </p:nvGrpSpPr>
          <p:grpSpPr bwMode="auto">
            <a:xfrm>
              <a:off x="4102635" y="2291106"/>
              <a:ext cx="2311976" cy="676676"/>
              <a:chOff x="2715" y="1872"/>
              <a:chExt cx="1968" cy="624"/>
            </a:xfrm>
          </p:grpSpPr>
          <p:sp>
            <p:nvSpPr>
              <p:cNvPr id="51" name="AutoShape 110"/>
              <p:cNvSpPr>
                <a:spLocks noChangeArrowheads="1"/>
              </p:cNvSpPr>
              <p:nvPr/>
            </p:nvSpPr>
            <p:spPr bwMode="auto">
              <a:xfrm rot="16200000" flipH="1">
                <a:off x="3508" y="2231"/>
                <a:ext cx="384" cy="145"/>
              </a:xfrm>
              <a:prstGeom prst="rightArrow">
                <a:avLst>
                  <a:gd name="adj1" fmla="val 50000"/>
                  <a:gd name="adj2" fmla="val 132426"/>
                </a:avLst>
              </a:prstGeom>
              <a:solidFill>
                <a:srgbClr val="00FF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1865" b="1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2" name="Rectangle 111"/>
              <p:cNvSpPr>
                <a:spLocks noChangeArrowheads="1"/>
              </p:cNvSpPr>
              <p:nvPr/>
            </p:nvSpPr>
            <p:spPr bwMode="auto">
              <a:xfrm>
                <a:off x="2715" y="1872"/>
                <a:ext cx="1968" cy="240"/>
              </a:xfrm>
              <a:prstGeom prst="rect">
                <a:avLst/>
              </a:prstGeom>
              <a:solidFill>
                <a:srgbClr val="0000CC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defTabSz="762000" eaLnBrk="0" hangingPunct="0"/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IP </a:t>
                </a: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数据报</a:t>
                </a:r>
                <a:endParaRPr kumimoji="1"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0" name="AutoShape 38"/>
            <p:cNvSpPr>
              <a:spLocks noChangeArrowheads="1"/>
            </p:cNvSpPr>
            <p:nvPr/>
          </p:nvSpPr>
          <p:spPr bwMode="auto">
            <a:xfrm>
              <a:off x="4499282" y="1764944"/>
              <a:ext cx="1820738" cy="375516"/>
            </a:xfrm>
            <a:prstGeom prst="wedgeRoundRectCallout">
              <a:avLst>
                <a:gd name="adj1" fmla="val 64595"/>
                <a:gd name="adj2" fmla="val 253347"/>
                <a:gd name="adj3" fmla="val 16667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/>
            <a:lstStyle/>
            <a:p>
              <a:pPr algn="ctr"/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FCS 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字段 </a:t>
              </a:r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4 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字节</a:t>
              </a:r>
              <a:endParaRPr lang="zh-CN" altLang="en-US" sz="2135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4" name="矩形 53"/>
          <p:cNvSpPr/>
          <p:nvPr/>
        </p:nvSpPr>
        <p:spPr>
          <a:xfrm>
            <a:off x="1314401" y="4940227"/>
            <a:ext cx="9485376" cy="66548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当数据字段的长度小于 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46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字节时</a:t>
            </a:r>
            <a:r>
              <a:rPr lang="zh-CN" altLang="en-US" sz="18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，应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在数据字段的后面加入整数字节的</a:t>
            </a:r>
            <a:r>
              <a:rPr lang="zh-CN" altLang="en-US" sz="1865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填充字段</a:t>
            </a:r>
            <a:r>
              <a:rPr lang="zh-CN" altLang="en-US" sz="18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，以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保证以太网的 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帧长不小于 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64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字节。 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AutoShape 5"/>
          <p:cNvSpPr>
            <a:spLocks noChangeArrowheads="1"/>
          </p:cNvSpPr>
          <p:nvPr/>
        </p:nvSpPr>
        <p:spPr bwMode="auto">
          <a:xfrm>
            <a:off x="670561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57" name="Rectangle 6"/>
          <p:cNvSpPr>
            <a:spLocks noChangeArrowheads="1"/>
          </p:cNvSpPr>
          <p:nvPr/>
        </p:nvSpPr>
        <p:spPr bwMode="auto">
          <a:xfrm>
            <a:off x="3970118" y="781253"/>
            <a:ext cx="42386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圆角矩形 59"/>
          <p:cNvSpPr/>
          <p:nvPr/>
        </p:nvSpPr>
        <p:spPr>
          <a:xfrm>
            <a:off x="670560" y="1345552"/>
            <a:ext cx="10838687" cy="437692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AutoShape 5"/>
          <p:cNvSpPr>
            <a:spLocks noChangeArrowheads="1"/>
          </p:cNvSpPr>
          <p:nvPr/>
        </p:nvSpPr>
        <p:spPr bwMode="auto">
          <a:xfrm>
            <a:off x="670560" y="804123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2" name="矩形 61"/>
          <p:cNvSpPr/>
          <p:nvPr/>
        </p:nvSpPr>
        <p:spPr>
          <a:xfrm>
            <a:off x="821447" y="747803"/>
            <a:ext cx="423862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 smtClean="0"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 smtClean="0"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endParaRPr lang="zh-CN" altLang="en-US" sz="26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>
            <a:off x="1522347" y="3714311"/>
            <a:ext cx="8796787" cy="0"/>
          </a:xfrm>
          <a:prstGeom prst="line">
            <a:avLst/>
          </a:prstGeom>
          <a:noFill/>
          <a:ln w="25400" cmpd="sng">
            <a:solidFill>
              <a:srgbClr val="0000CC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905460" y="3917452"/>
            <a:ext cx="6328172" cy="451117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5301252" y="3979181"/>
            <a:ext cx="1669415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帧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9340147" y="3988715"/>
            <a:ext cx="850900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物理层</a:t>
            </a:r>
            <a:endParaRPr kumimoji="1" lang="zh-CN" altLang="en-US" sz="16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26"/>
          <p:cNvSpPr>
            <a:spLocks noChangeArrowheads="1"/>
          </p:cNvSpPr>
          <p:nvPr/>
        </p:nvSpPr>
        <p:spPr bwMode="auto">
          <a:xfrm>
            <a:off x="9300987" y="3135956"/>
            <a:ext cx="999490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en-US" altLang="zh-CN" sz="1600" b="1" dirty="0" smtClean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kumimoji="1" lang="zh-CN" altLang="en-US" sz="1600" b="1" dirty="0" smtClean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kumimoji="1" lang="zh-CN" altLang="en-US" sz="16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Line 27"/>
          <p:cNvSpPr>
            <a:spLocks noChangeShapeType="1"/>
          </p:cNvSpPr>
          <p:nvPr/>
        </p:nvSpPr>
        <p:spPr bwMode="auto">
          <a:xfrm flipH="1">
            <a:off x="2897628" y="3464173"/>
            <a:ext cx="1567" cy="468468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Line 28"/>
          <p:cNvSpPr>
            <a:spLocks noChangeShapeType="1"/>
          </p:cNvSpPr>
          <p:nvPr/>
        </p:nvSpPr>
        <p:spPr bwMode="auto">
          <a:xfrm>
            <a:off x="9222668" y="3529237"/>
            <a:ext cx="10965" cy="393281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493085" y="3451151"/>
            <a:ext cx="4554147" cy="2159657"/>
            <a:chOff x="1119814" y="2621615"/>
            <a:chExt cx="3415610" cy="1619743"/>
          </a:xfrm>
        </p:grpSpPr>
        <p:grpSp>
          <p:nvGrpSpPr>
            <p:cNvPr id="58" name="组合 57"/>
            <p:cNvGrpSpPr/>
            <p:nvPr/>
          </p:nvGrpSpPr>
          <p:grpSpPr>
            <a:xfrm>
              <a:off x="1119814" y="2654183"/>
              <a:ext cx="3415610" cy="1587175"/>
              <a:chOff x="1119814" y="2654183"/>
              <a:chExt cx="3415610" cy="1587175"/>
            </a:xfrm>
          </p:grpSpPr>
          <p:sp>
            <p:nvSpPr>
              <p:cNvPr id="20" name="Rectangle 33"/>
              <p:cNvSpPr>
                <a:spLocks noChangeArrowheads="1"/>
              </p:cNvSpPr>
              <p:nvPr/>
            </p:nvSpPr>
            <p:spPr bwMode="auto">
              <a:xfrm>
                <a:off x="3402390" y="3948948"/>
                <a:ext cx="1133034" cy="2728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0650" tIns="59266" rIns="120650" bIns="59266">
                <a:spAutoFit/>
              </a:bodyPr>
              <a:lstStyle/>
              <a:p>
                <a:pPr defTabSz="762000" eaLnBrk="0" hangingPunct="0"/>
                <a:r>
                  <a:rPr kumimoji="1" lang="zh-CN" altLang="en-US" sz="1600" b="1" dirty="0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帧</a:t>
                </a:r>
                <a:r>
                  <a:rPr kumimoji="1" lang="zh-CN" altLang="en-US" sz="1600" b="1" dirty="0" smtClean="0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开始定界符</a:t>
                </a:r>
                <a:endParaRPr kumimoji="1" lang="zh-CN" altLang="en-US" sz="1600" b="1" dirty="0">
                  <a:solidFill>
                    <a:srgbClr val="00009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1119814" y="2654183"/>
                <a:ext cx="3357315" cy="1587175"/>
                <a:chOff x="1119814" y="2654183"/>
                <a:chExt cx="3357315" cy="1587175"/>
              </a:xfrm>
            </p:grpSpPr>
            <p:sp>
              <p:nvSpPr>
                <p:cNvPr id="16" name="Rectangle 29"/>
                <p:cNvSpPr>
                  <a:spLocks noChangeArrowheads="1"/>
                </p:cNvSpPr>
                <p:nvPr/>
              </p:nvSpPr>
              <p:spPr bwMode="auto">
                <a:xfrm>
                  <a:off x="1173479" y="3658324"/>
                  <a:ext cx="3122679" cy="284117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865" b="1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7" name="Rectangle 30"/>
                <p:cNvSpPr>
                  <a:spLocks noChangeArrowheads="1"/>
                </p:cNvSpPr>
                <p:nvPr/>
              </p:nvSpPr>
              <p:spPr bwMode="auto">
                <a:xfrm>
                  <a:off x="1177160" y="3687604"/>
                  <a:ext cx="3299969" cy="2386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120650" tIns="59266" rIns="120650" bIns="59266">
                  <a:spAutoFit/>
                </a:bodyPr>
                <a:lstStyle/>
                <a:p>
                  <a:pPr defTabSz="762000" eaLnBrk="0" hangingPunct="0"/>
                  <a:r>
                    <a:rPr kumimoji="1" lang="en-US" altLang="zh-CN" sz="1295" b="1" dirty="0" smtClean="0">
                      <a:latin typeface="微软雅黑" panose="020B0503020204020204" charset="-122"/>
                      <a:ea typeface="微软雅黑" panose="020B0503020204020204" charset="-122"/>
                    </a:rPr>
                    <a:t>10101010101010           101010101010 10101011</a:t>
                  </a:r>
                  <a:endParaRPr kumimoji="1" lang="en-US" altLang="zh-CN" sz="1295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8" name="Line 31"/>
                <p:cNvSpPr>
                  <a:spLocks noChangeShapeType="1"/>
                </p:cNvSpPr>
                <p:nvPr/>
              </p:nvSpPr>
              <p:spPr bwMode="auto">
                <a:xfrm>
                  <a:off x="3656709" y="3656155"/>
                  <a:ext cx="0" cy="29496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865" b="1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" name="Rectangle 32"/>
                <p:cNvSpPr>
                  <a:spLocks noChangeArrowheads="1"/>
                </p:cNvSpPr>
                <p:nvPr/>
              </p:nvSpPr>
              <p:spPr bwMode="auto">
                <a:xfrm>
                  <a:off x="2155959" y="3968467"/>
                  <a:ext cx="790575" cy="2728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120650" tIns="59266" rIns="120650" bIns="59266">
                  <a:spAutoFit/>
                </a:bodyPr>
                <a:lstStyle/>
                <a:p>
                  <a:pPr defTabSz="762000" eaLnBrk="0" hangingPunct="0"/>
                  <a:r>
                    <a:rPr kumimoji="1" lang="zh-CN" altLang="en-US" sz="1600" b="1" dirty="0">
                      <a:solidFill>
                        <a:srgbClr val="00009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前同步码</a:t>
                  </a:r>
                  <a:endParaRPr kumimoji="1" lang="zh-CN" altLang="en-US" sz="1600" b="1" dirty="0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1" name="Rectangle 34"/>
                <p:cNvSpPr>
                  <a:spLocks noChangeArrowheads="1"/>
                </p:cNvSpPr>
                <p:nvPr/>
              </p:nvSpPr>
              <p:spPr bwMode="auto">
                <a:xfrm>
                  <a:off x="2199160" y="3428428"/>
                  <a:ext cx="624840" cy="2728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120650" tIns="59266" rIns="120650" bIns="59266">
                  <a:spAutoFit/>
                </a:bodyPr>
                <a:lstStyle/>
                <a:p>
                  <a:pPr defTabSz="762000" eaLnBrk="0" hangingPunct="0"/>
                  <a:r>
                    <a:rPr kumimoji="1" lang="en-US" altLang="zh-CN" sz="1600" b="1" dirty="0">
                      <a:solidFill>
                        <a:srgbClr val="00009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7 </a:t>
                  </a:r>
                  <a:r>
                    <a:rPr kumimoji="1" lang="zh-CN" altLang="en-US" sz="1600" b="1" dirty="0">
                      <a:solidFill>
                        <a:srgbClr val="00009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字节</a:t>
                  </a:r>
                  <a:endParaRPr kumimoji="1" lang="zh-CN" altLang="en-US" sz="1600" b="1" dirty="0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2" name="Rectangle 35"/>
                <p:cNvSpPr>
                  <a:spLocks noChangeArrowheads="1"/>
                </p:cNvSpPr>
                <p:nvPr/>
              </p:nvSpPr>
              <p:spPr bwMode="auto">
                <a:xfrm>
                  <a:off x="3722461" y="3353011"/>
                  <a:ext cx="624840" cy="2728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120650" tIns="59266" rIns="120650" bIns="59266">
                  <a:spAutoFit/>
                </a:bodyPr>
                <a:lstStyle/>
                <a:p>
                  <a:pPr defTabSz="762000" eaLnBrk="0" hangingPunct="0"/>
                  <a:r>
                    <a:rPr kumimoji="1" lang="en-US" altLang="zh-CN" sz="1600" b="1" dirty="0">
                      <a:solidFill>
                        <a:srgbClr val="00009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1 </a:t>
                  </a:r>
                  <a:r>
                    <a:rPr kumimoji="1" lang="zh-CN" altLang="en-US" sz="1600" b="1" dirty="0">
                      <a:solidFill>
                        <a:srgbClr val="00009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字节</a:t>
                  </a:r>
                  <a:endParaRPr kumimoji="1" lang="zh-CN" altLang="en-US" sz="1600" b="1" dirty="0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3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1182878" y="3319986"/>
                  <a:ext cx="216161" cy="336169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865" b="1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4" name="Line 37"/>
                <p:cNvSpPr>
                  <a:spLocks noChangeShapeType="1"/>
                </p:cNvSpPr>
                <p:nvPr/>
              </p:nvSpPr>
              <p:spPr bwMode="auto">
                <a:xfrm>
                  <a:off x="2167347" y="3328662"/>
                  <a:ext cx="2128810" cy="327493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865" b="1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5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426998" y="3663747"/>
                  <a:ext cx="308610" cy="2838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571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714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286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7432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32004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6576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41148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r>
                    <a:rPr kumimoji="1" lang="en-US" altLang="zh-CN" sz="1865" b="1" dirty="0">
                      <a:solidFill>
                        <a:srgbClr val="00009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…</a:t>
                  </a:r>
                  <a:endParaRPr kumimoji="1" lang="en-US" altLang="zh-CN" sz="1865" b="1" dirty="0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6" name="Rectangle 41"/>
                <p:cNvSpPr>
                  <a:spLocks noChangeArrowheads="1"/>
                </p:cNvSpPr>
                <p:nvPr/>
              </p:nvSpPr>
              <p:spPr bwMode="auto">
                <a:xfrm>
                  <a:off x="1420185" y="2975599"/>
                  <a:ext cx="754212" cy="334000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solidFill>
                    <a:srgbClr val="0000CC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865" b="1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7" name="Rectangle 42"/>
                <p:cNvSpPr>
                  <a:spLocks noChangeArrowheads="1"/>
                </p:cNvSpPr>
                <p:nvPr/>
              </p:nvSpPr>
              <p:spPr bwMode="auto">
                <a:xfrm>
                  <a:off x="1484272" y="3010330"/>
                  <a:ext cx="624840" cy="2728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120650" tIns="59266" rIns="120650" bIns="59266">
                  <a:spAutoFit/>
                </a:bodyPr>
                <a:lstStyle/>
                <a:p>
                  <a:pPr defTabSz="762000" eaLnBrk="0" hangingPunct="0"/>
                  <a:r>
                    <a:rPr kumimoji="1" lang="en-US" altLang="zh-CN" sz="1600" b="1" dirty="0">
                      <a:latin typeface="微软雅黑" panose="020B0503020204020204" charset="-122"/>
                      <a:ea typeface="微软雅黑" panose="020B0503020204020204" charset="-122"/>
                    </a:rPr>
                    <a:t>8 </a:t>
                  </a:r>
                  <a:r>
                    <a:rPr kumimoji="1" lang="zh-CN" altLang="en-US" sz="1600" b="1" dirty="0">
                      <a:latin typeface="微软雅黑" panose="020B0503020204020204" charset="-122"/>
                      <a:ea typeface="微软雅黑" panose="020B0503020204020204" charset="-122"/>
                    </a:rPr>
                    <a:t>字节</a:t>
                  </a:r>
                  <a:endParaRPr kumimoji="1" lang="zh-CN" altLang="en-US" sz="1600" b="1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8" name="AutoShape 43"/>
                <p:cNvSpPr>
                  <a:spLocks noChangeArrowheads="1"/>
                </p:cNvSpPr>
                <p:nvPr/>
              </p:nvSpPr>
              <p:spPr bwMode="auto">
                <a:xfrm>
                  <a:off x="1119814" y="2654183"/>
                  <a:ext cx="558023" cy="216341"/>
                </a:xfrm>
                <a:prstGeom prst="wedgeRoundRectCallout">
                  <a:avLst>
                    <a:gd name="adj1" fmla="val 48000"/>
                    <a:gd name="adj2" fmla="val 139880"/>
                    <a:gd name="adj3" fmla="val 16667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defTabSz="762000" eaLnBrk="0" hangingPunct="0"/>
                  <a:endParaRPr kumimoji="1" lang="zh-CN" altLang="zh-CN" sz="1865" b="1">
                    <a:solidFill>
                      <a:srgbClr val="00009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9" name="Rectangle 44"/>
            <p:cNvSpPr>
              <a:spLocks noChangeArrowheads="1"/>
            </p:cNvSpPr>
            <p:nvPr/>
          </p:nvSpPr>
          <p:spPr bwMode="auto">
            <a:xfrm>
              <a:off x="1134821" y="2621615"/>
              <a:ext cx="548625" cy="272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0650" tIns="59266" rIns="120650" bIns="59266">
              <a:spAutoFit/>
            </a:bodyPr>
            <a:lstStyle/>
            <a:p>
              <a:pPr algn="ctr" defTabSz="762000" eaLnBrk="0" hangingPunct="0"/>
              <a:r>
                <a:rPr kumimoji="1"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插入</a:t>
              </a:r>
              <a:endPara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0" name="Rectangle 47"/>
          <p:cNvSpPr>
            <a:spLocks noChangeArrowheads="1"/>
          </p:cNvSpPr>
          <p:nvPr/>
        </p:nvSpPr>
        <p:spPr bwMode="auto">
          <a:xfrm>
            <a:off x="9443528" y="2326259"/>
            <a:ext cx="706120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en-US" altLang="zh-CN" sz="1600" b="1" dirty="0" smtClean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IP </a:t>
            </a:r>
            <a:r>
              <a:rPr kumimoji="1" lang="zh-CN" altLang="en-US" sz="1600" b="1" dirty="0" smtClean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kumimoji="1" lang="zh-CN" altLang="en-US" sz="16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Line 48"/>
          <p:cNvSpPr>
            <a:spLocks noChangeShapeType="1"/>
          </p:cNvSpPr>
          <p:nvPr/>
        </p:nvSpPr>
        <p:spPr bwMode="auto">
          <a:xfrm flipV="1">
            <a:off x="9293155" y="2812076"/>
            <a:ext cx="864859" cy="0"/>
          </a:xfrm>
          <a:prstGeom prst="line">
            <a:avLst/>
          </a:prstGeom>
          <a:noFill/>
          <a:ln w="25400" cmpd="sng">
            <a:solidFill>
              <a:srgbClr val="0000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AutoShape 64"/>
          <p:cNvSpPr>
            <a:spLocks noChangeArrowheads="1"/>
          </p:cNvSpPr>
          <p:nvPr/>
        </p:nvSpPr>
        <p:spPr bwMode="auto">
          <a:xfrm rot="16200000" flipH="1">
            <a:off x="5827179" y="3640891"/>
            <a:ext cx="555221" cy="227124"/>
          </a:xfrm>
          <a:prstGeom prst="rightArrow">
            <a:avLst>
              <a:gd name="adj1" fmla="val 50000"/>
              <a:gd name="adj2" fmla="val 132426"/>
            </a:avLst>
          </a:prstGeom>
          <a:solidFill>
            <a:srgbClr val="00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66"/>
          <p:cNvSpPr>
            <a:spLocks noChangeArrowheads="1"/>
          </p:cNvSpPr>
          <p:nvPr/>
        </p:nvSpPr>
        <p:spPr bwMode="auto">
          <a:xfrm>
            <a:off x="2897628" y="3070891"/>
            <a:ext cx="6336005" cy="416416"/>
          </a:xfrm>
          <a:prstGeom prst="rect">
            <a:avLst/>
          </a:prstGeom>
          <a:solidFill>
            <a:srgbClr val="00FFFF"/>
          </a:solidFill>
          <a:ln w="19050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Line 67"/>
          <p:cNvSpPr>
            <a:spLocks noChangeShapeType="1"/>
          </p:cNvSpPr>
          <p:nvPr/>
        </p:nvSpPr>
        <p:spPr bwMode="auto">
          <a:xfrm>
            <a:off x="3820225" y="3070891"/>
            <a:ext cx="0" cy="416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Line 68"/>
          <p:cNvSpPr>
            <a:spLocks noChangeShapeType="1"/>
          </p:cNvSpPr>
          <p:nvPr/>
        </p:nvSpPr>
        <p:spPr bwMode="auto">
          <a:xfrm>
            <a:off x="4722460" y="3070891"/>
            <a:ext cx="0" cy="416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Line 69"/>
          <p:cNvSpPr>
            <a:spLocks noChangeShapeType="1"/>
          </p:cNvSpPr>
          <p:nvPr/>
        </p:nvSpPr>
        <p:spPr bwMode="auto">
          <a:xfrm>
            <a:off x="5624695" y="3070891"/>
            <a:ext cx="0" cy="416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Line 70"/>
          <p:cNvSpPr>
            <a:spLocks noChangeShapeType="1"/>
          </p:cNvSpPr>
          <p:nvPr/>
        </p:nvSpPr>
        <p:spPr bwMode="auto">
          <a:xfrm>
            <a:off x="8707329" y="3070891"/>
            <a:ext cx="0" cy="416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65" b="1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71"/>
          <p:cNvSpPr>
            <a:spLocks noChangeArrowheads="1"/>
          </p:cNvSpPr>
          <p:nvPr/>
        </p:nvSpPr>
        <p:spPr bwMode="auto">
          <a:xfrm>
            <a:off x="2828708" y="3112821"/>
            <a:ext cx="1054100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目的地址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72"/>
          <p:cNvSpPr>
            <a:spLocks noChangeArrowheads="1"/>
          </p:cNvSpPr>
          <p:nvPr/>
        </p:nvSpPr>
        <p:spPr bwMode="auto">
          <a:xfrm>
            <a:off x="3872125" y="3112821"/>
            <a:ext cx="850900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源地址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73"/>
          <p:cNvSpPr>
            <a:spLocks noChangeArrowheads="1"/>
          </p:cNvSpPr>
          <p:nvPr/>
        </p:nvSpPr>
        <p:spPr bwMode="auto">
          <a:xfrm>
            <a:off x="4857847" y="3112821"/>
            <a:ext cx="647700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类型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74"/>
          <p:cNvSpPr>
            <a:spLocks noChangeArrowheads="1"/>
          </p:cNvSpPr>
          <p:nvPr/>
        </p:nvSpPr>
        <p:spPr bwMode="auto">
          <a:xfrm>
            <a:off x="6609528" y="3112821"/>
            <a:ext cx="1130300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数        据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75"/>
          <p:cNvSpPr>
            <a:spLocks noChangeArrowheads="1"/>
          </p:cNvSpPr>
          <p:nvPr/>
        </p:nvSpPr>
        <p:spPr bwMode="auto">
          <a:xfrm>
            <a:off x="8654073" y="3112821"/>
            <a:ext cx="614045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en-US" altLang="zh-CN" sz="1600" b="1">
                <a:latin typeface="微软雅黑" panose="020B0503020204020204" charset="-122"/>
                <a:ea typeface="微软雅黑" panose="020B0503020204020204" charset="-122"/>
              </a:rPr>
              <a:t>FCS</a:t>
            </a:r>
            <a:endParaRPr kumimoji="1" lang="en-US" altLang="zh-CN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76"/>
          <p:cNvSpPr>
            <a:spLocks noChangeArrowheads="1"/>
          </p:cNvSpPr>
          <p:nvPr/>
        </p:nvSpPr>
        <p:spPr bwMode="auto">
          <a:xfrm>
            <a:off x="3204091" y="2772972"/>
            <a:ext cx="366395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kumimoji="1" lang="en-US" altLang="zh-CN" sz="16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77"/>
          <p:cNvSpPr>
            <a:spLocks noChangeArrowheads="1"/>
          </p:cNvSpPr>
          <p:nvPr/>
        </p:nvSpPr>
        <p:spPr bwMode="auto">
          <a:xfrm>
            <a:off x="4133969" y="2772972"/>
            <a:ext cx="366395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kumimoji="1" lang="en-US" altLang="zh-CN" sz="16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78"/>
          <p:cNvSpPr>
            <a:spLocks noChangeArrowheads="1"/>
          </p:cNvSpPr>
          <p:nvPr/>
        </p:nvSpPr>
        <p:spPr bwMode="auto">
          <a:xfrm>
            <a:off x="5098391" y="2772972"/>
            <a:ext cx="366395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kumimoji="1" lang="en-US" altLang="zh-CN" sz="16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79"/>
          <p:cNvSpPr>
            <a:spLocks noChangeArrowheads="1"/>
          </p:cNvSpPr>
          <p:nvPr/>
        </p:nvSpPr>
        <p:spPr bwMode="auto">
          <a:xfrm>
            <a:off x="8779457" y="2772972"/>
            <a:ext cx="366395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kumimoji="1" lang="en-US" altLang="zh-CN" sz="16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80"/>
          <p:cNvSpPr>
            <a:spLocks noChangeArrowheads="1"/>
          </p:cNvSpPr>
          <p:nvPr/>
        </p:nvSpPr>
        <p:spPr bwMode="auto">
          <a:xfrm>
            <a:off x="2318876" y="2756945"/>
            <a:ext cx="647700" cy="3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650" tIns="59266" rIns="120650" bIns="59266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endParaRPr kumimoji="1" lang="zh-CN" altLang="en-US" sz="16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 Box 81"/>
          <p:cNvSpPr txBox="1">
            <a:spLocks noChangeArrowheads="1"/>
          </p:cNvSpPr>
          <p:nvPr/>
        </p:nvSpPr>
        <p:spPr bwMode="auto">
          <a:xfrm>
            <a:off x="7288189" y="2742607"/>
            <a:ext cx="12090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46 ~ 1500</a:t>
            </a:r>
            <a:endParaRPr kumimoji="1" lang="en-US" altLang="zh-CN" sz="16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1" name="Group 109"/>
          <p:cNvGrpSpPr/>
          <p:nvPr/>
        </p:nvGrpSpPr>
        <p:grpSpPr bwMode="auto">
          <a:xfrm>
            <a:off x="5624695" y="2326259"/>
            <a:ext cx="3082635" cy="902235"/>
            <a:chOff x="2715" y="1872"/>
            <a:chExt cx="1968" cy="624"/>
          </a:xfrm>
        </p:grpSpPr>
        <p:sp>
          <p:nvSpPr>
            <p:cNvPr id="53" name="AutoShape 110"/>
            <p:cNvSpPr>
              <a:spLocks noChangeArrowheads="1"/>
            </p:cNvSpPr>
            <p:nvPr/>
          </p:nvSpPr>
          <p:spPr bwMode="auto">
            <a:xfrm rot="16200000" flipH="1">
              <a:off x="3508" y="2231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865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Rectangle 111"/>
            <p:cNvSpPr>
              <a:spLocks noChangeArrowheads="1"/>
            </p:cNvSpPr>
            <p:nvPr/>
          </p:nvSpPr>
          <p:spPr bwMode="auto">
            <a:xfrm>
              <a:off x="2715" y="1872"/>
              <a:ext cx="1968" cy="240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defTabSz="762000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IP </a:t>
              </a:r>
              <a:r>
                <a:rPr kumimoji="1"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数据报</a:t>
              </a:r>
              <a:endParaRPr kumimoji="1"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5" name="矩形 54"/>
          <p:cNvSpPr/>
          <p:nvPr/>
        </p:nvSpPr>
        <p:spPr>
          <a:xfrm>
            <a:off x="1314401" y="1498665"/>
            <a:ext cx="9485376" cy="626110"/>
          </a:xfrm>
          <a:prstGeom prst="rect">
            <a:avLst/>
          </a:prstGeom>
          <a:solidFill>
            <a:srgbClr val="0000CC"/>
          </a:solidFill>
        </p:spPr>
        <p:txBody>
          <a:bodyPr wrap="square">
            <a:spAutoFit/>
          </a:bodyPr>
          <a:lstStyle/>
          <a:p>
            <a:r>
              <a:rPr lang="zh-CN" altLang="en-US" sz="17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由硬件在</a:t>
            </a:r>
            <a:r>
              <a:rPr lang="zh-CN" altLang="en-US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帧的前面</a:t>
            </a:r>
            <a:r>
              <a:rPr lang="zh-CN" altLang="en-US" sz="17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插入 </a:t>
            </a:r>
            <a:r>
              <a:rPr lang="en-US" altLang="zh-CN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altLang="en-US" sz="17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字节。第一</a:t>
            </a:r>
            <a:r>
              <a:rPr lang="zh-CN" altLang="en-US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个字段共 </a:t>
            </a:r>
            <a:r>
              <a:rPr lang="en-US" altLang="zh-CN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altLang="en-US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个字节，是前同步码，用来迅速实现 </a:t>
            </a:r>
            <a:r>
              <a:rPr lang="en-US" altLang="zh-CN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帧的比特同步。第二个字段 </a:t>
            </a:r>
            <a:r>
              <a:rPr lang="en-US" altLang="zh-CN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个字节是帧开始定界符，表示后面的信息就是 </a:t>
            </a:r>
            <a:r>
              <a:rPr lang="en-US" altLang="zh-CN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17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帧。 </a:t>
            </a:r>
            <a:endParaRPr lang="zh-CN" altLang="en-US" sz="173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705600" y="4519051"/>
            <a:ext cx="3658680" cy="95313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为了达到比特同步</a:t>
            </a:r>
            <a:r>
              <a:rPr lang="zh-CN" altLang="en-US" sz="18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，在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传输媒体上实际传送</a:t>
            </a:r>
            <a:r>
              <a:rPr lang="zh-CN" altLang="en-US" sz="186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的要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 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帧还多 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个字节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AutoShape 5"/>
          <p:cNvSpPr>
            <a:spLocks noChangeArrowheads="1"/>
          </p:cNvSpPr>
          <p:nvPr/>
        </p:nvSpPr>
        <p:spPr bwMode="auto">
          <a:xfrm>
            <a:off x="670561" y="812040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3970118" y="781253"/>
            <a:ext cx="42386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以太网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MAC 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帧格式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2067</Words>
  <Application>WPS 演示</Application>
  <PresentationFormat>宽屏</PresentationFormat>
  <Paragraphs>357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yu</cp:lastModifiedBy>
  <cp:revision>157</cp:revision>
  <dcterms:created xsi:type="dcterms:W3CDTF">2019-06-19T02:08:00Z</dcterms:created>
  <dcterms:modified xsi:type="dcterms:W3CDTF">2025-11-25T02:46:05Z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F2488AB125EA45D39A00FFAA415583C8_11</vt:lpwstr>
  </property>
</Properties>
</file>